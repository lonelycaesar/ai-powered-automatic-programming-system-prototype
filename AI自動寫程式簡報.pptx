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6" r:id="rId20"/>
    <p:sldId id="275" r:id="rId21"/>
    <p:sldId id="276" r:id="rId22"/>
    <p:sldId id="284" r:id="rId23"/>
    <p:sldId id="281" r:id="rId24"/>
    <p:sldId id="279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AABB-867C-A9A2-4C9A-24ECE480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9D077-4245-4998-CE44-3770ED0EC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9DCBC-C62F-A6ED-0A0B-47208FB2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6A8CB-CA45-8458-8464-D2B07CCDB2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748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14B4-DBED-28F6-5926-B3DFDF60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87D0A-A679-9B79-5062-CA675EB47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EB212-4F7D-CA57-24B6-552E7DDF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2649A-47D2-489C-F04F-C43F1EEA14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5306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A863-511A-0FA5-50EB-1AC6A5F9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E3891-C9C5-2CDC-EE25-5B81DF2AB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3784A-A43D-75C9-D6D2-140101906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55EA9-A2AA-7C87-FE70-F749584F99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41356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28E4-CF57-4665-9F14-546E919F3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79783-96D5-438D-B0F0-AA28F5A3B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24265-EE33-4D99-9DD0-B34B00C2F8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2BBAF-48DA-4BF4-ACB3-6387D1CD4F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78514-F73E-45ED-B467-BDDA3BAEE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7A34-3D24-4690-89A5-0469F41F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8DD8-3AF5-4AEA-B2D6-B907BDA4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9663B-491F-4473-9F75-5F273C008F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5FFD8-3793-4546-9A88-9DFB4E8B4B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4F13B-2710-4A75-A13C-A1086305C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33A3-84A2-4F55-877F-F0EE6001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B51AF-F29B-4A4A-BD73-C9F36C743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18BA5-C218-4FDD-A475-CDE4A73876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7BCF9-0199-47E2-A477-93E182EDEA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B6D31-CE41-4420-A751-050249B716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6FB9-DBAD-4D0E-9073-5D176931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9D6B-973C-41ED-9DA3-5C9A08A6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BAB62-1C19-477B-9A6F-7991591F686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ECC05-549C-4034-AA75-B320BD055B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B3861-BED3-428A-A5B8-2CF5495BBE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C6EF4-D1A7-4467-BE73-D3212E0396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DA96-322D-40BF-967A-1620F248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F064C-8AE5-48F2-B35E-D49DFDEF1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167A6-DC35-423F-9730-D8FA9A8B190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60DA5-98EA-4397-96E5-7A54C9EAAC3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33A65-E9B2-452B-ADF9-6040D0A6F8E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B6804-FCCA-4032-A888-3AFE2EA636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34075-0848-4A8D-8E68-F2774BB455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63078-7CEB-4903-B664-2724DBF647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2959-5417-42CE-ADA1-5F42A94C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6BA4B-8FEC-46C3-855E-842054C244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53323-3D8A-451C-A6B8-52FA435388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DB92C-1013-4AE3-A6AF-198E1D237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B7DF7-673A-4C82-9780-952E847FC4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C6580-5F13-4915-92BF-970C37DC2E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68DC8-3586-4FF1-92A5-64FA8E680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A504-5F1A-46BC-951D-A67A1598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A9F2D-AF7D-455C-A71E-D60B0C7A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39709-ED88-48E0-B293-C7FFB1AE86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D827C-598B-4E2C-ACAF-821E4A0AEA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469FB-159A-400F-AF96-B6B88C5228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03A4F-44FF-4548-A1CD-20480B1645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C87F-C675-47D6-A226-4D7AF168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DAFC4-A8FB-4FA5-BCB9-B3076731D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35DCC-44A3-4370-98DC-377D4987A5F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CA5F7-45C0-4374-BE3C-D1282B68DE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DE854-6384-454F-B91C-DEA1516C8C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84063-4519-4F0E-984C-C4F6A4E24D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7944-255B-4C59-9005-F2A0E8DC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2D45E-8D46-4F69-986B-8DCFA2FE9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8FEC8-A357-4925-8500-DDA148F71C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E0CE2-1EF3-4378-8926-2C30149FD3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B44B-C699-4EFE-8E84-1C35659044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031DF-3DFE-48D5-8946-100702A0B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66803-E1E1-4328-9DE4-CDFDCD449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40A07-7784-44F1-A7E2-3F3E1BC753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40D0-24D9-47B2-B639-9DC254728A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6512-A8F6-4F18-ABFD-93C50AC41A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E1516-82E8-4FA5-9A20-6485E5E11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8CDB3-0CBD-49A3-B677-698CFEC98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EE09A-A8D0-43F0-B374-B457CF80DE2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67CF6-9194-4E5E-82F5-00AC643488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C8265-E08A-4DF1-9B1C-2943E943A8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14B88-629B-459D-9327-5826D34BE393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1033272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4800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Cubi Code</a:t>
            </a:r>
          </a:p>
          <a:p>
            <a:pPr algn="ctr">
              <a:spcAft>
                <a:spcPts val="1600"/>
              </a:spcAft>
              <a:buNone/>
              <a:defRPr sz="28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AI </a:t>
            </a:r>
            <a:r>
              <a:rPr dirty="0" err="1"/>
              <a:t>自動寫程式系統雛形</a:t>
            </a:r>
            <a:endParaRPr dirty="0"/>
          </a:p>
          <a:p>
            <a:pPr algn="ctr">
              <a:buNone/>
              <a:defRPr sz="1500" b="0">
                <a:solidFill>
                  <a:srgbClr val="64748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500" dirty="0">
                <a:solidFill>
                  <a:srgbClr val="64748B"/>
                </a:solidFill>
                <a:latin typeface="微軟正黑體"/>
              </a:rPr>
              <a:t>專案架構・實測功能展示・能力矩陣・實作問題與未來展望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697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8CC01E-F680-4BE1-B36B-EB6CA622F1A7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2000" b="1" dirty="0">
                <a:solidFill>
                  <a:srgbClr val="0F172A"/>
                </a:solidFill>
                <a:latin typeface="微軟正黑體"/>
              </a:rPr>
              <a:t>簡報大綱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61A1D7-18FD-4B1D-BACA-C6F652A292DF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61D37-02CD-4985-9BE7-89561DAEC501}"/>
              </a:ext>
            </a:extLst>
          </p:cNvPr>
          <p:cNvSpPr>
            <a:spLocks noGrp="1"/>
          </p:cNvSpPr>
          <p:nvPr/>
        </p:nvSpPr>
        <p:spPr>
          <a:xfrm>
            <a:off x="586044" y="103327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提供可實際操作之「AI 寫程式系統雛</a:t>
            </a:r>
            <a:r>
              <a:rPr lang="zh-TW" altLang="en-US" sz="1300" dirty="0">
                <a:solidFill>
                  <a:srgbClr val="334155"/>
                </a:solidFill>
                <a:latin typeface="微軟正黑體"/>
              </a:rPr>
              <a:t>形</a:t>
            </a: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」，完整涵蓋架構、操作、測試與改善方向。</a:t>
            </a:r>
            <a:endParaRPr lang="zh-TW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3961C-2345-4306-A4F9-A838975CCD29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08D51B-1A95-40BC-9F8D-9DAB08E4AAE4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53492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FFA79-54C7-4263-AD9C-140360252A18}"/>
              </a:ext>
            </a:extLst>
          </p:cNvPr>
          <p:cNvSpPr>
            <a:spLocks noGrp="1"/>
          </p:cNvSpPr>
          <p:nvPr/>
        </p:nvSpPr>
        <p:spPr>
          <a:xfrm>
            <a:off x="777240" y="1645919"/>
            <a:ext cx="4983479" cy="482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1. </a:t>
            </a: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系統架構說明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buNone/>
              <a:defRPr sz="13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>
                <a:latin typeface="微軟正黑體"/>
                <a:ea typeface="微軟正黑體"/>
                <a:cs typeface="微軟正黑體"/>
              </a:rPr>
              <a:t>說明整體架構、使用流程、模型使用方式與資料處理方式</a:t>
            </a:r>
            <a:r>
              <a:rPr dirty="0"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F16AF6-8ED7-4D76-B834-AE4D80D15901}"/>
              </a:ext>
            </a:extLst>
          </p:cNvPr>
          <p:cNvSpPr>
            <a:spLocks noGrp="1"/>
          </p:cNvSpPr>
          <p:nvPr/>
        </p:nvSpPr>
        <p:spPr>
          <a:xfrm>
            <a:off x="6263640" y="1508760"/>
            <a:ext cx="53492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5EA87-4E42-40A2-9AEC-CE5F1F8ABC5F}"/>
              </a:ext>
            </a:extLst>
          </p:cNvPr>
          <p:cNvSpPr>
            <a:spLocks noGrp="1"/>
          </p:cNvSpPr>
          <p:nvPr/>
        </p:nvSpPr>
        <p:spPr>
          <a:xfrm>
            <a:off x="6446520" y="1645919"/>
            <a:ext cx="4983479" cy="6822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>
                <a:latin typeface="微軟正黑體"/>
                <a:ea typeface="微軟正黑體"/>
                <a:cs typeface="微軟正黑體"/>
              </a:rPr>
              <a:t>2. 實際操作展示</a:t>
            </a:r>
          </a:p>
          <a:p>
            <a:pPr>
              <a:buNone/>
              <a:defRPr sz="13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展示幾個主要功能，證明不是只有簡報或概念說明。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16CD19-6795-4FDC-9AF7-3D918160213F}"/>
              </a:ext>
            </a:extLst>
          </p:cNvPr>
          <p:cNvSpPr>
            <a:spLocks noGrp="1"/>
          </p:cNvSpPr>
          <p:nvPr/>
        </p:nvSpPr>
        <p:spPr>
          <a:xfrm>
            <a:off x="594360" y="3154680"/>
            <a:ext cx="53492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D58934-ED4A-40A3-9E6B-1673896A5FC8}"/>
              </a:ext>
            </a:extLst>
          </p:cNvPr>
          <p:cNvSpPr>
            <a:spLocks noGrp="1"/>
          </p:cNvSpPr>
          <p:nvPr/>
        </p:nvSpPr>
        <p:spPr>
          <a:xfrm>
            <a:off x="777240" y="3291840"/>
            <a:ext cx="4983479" cy="482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3. </a:t>
            </a: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功能測試結果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buNone/>
              <a:defRPr sz="13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dirty="0" err="1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用測試案例說明系統能完成什麼、限制與待改善項目</a:t>
            </a:r>
            <a:r>
              <a:rPr sz="1300" dirty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22F6D0-708B-42D4-8B67-80CC55188545}"/>
              </a:ext>
            </a:extLst>
          </p:cNvPr>
          <p:cNvSpPr>
            <a:spLocks noGrp="1"/>
          </p:cNvSpPr>
          <p:nvPr/>
        </p:nvSpPr>
        <p:spPr>
          <a:xfrm>
            <a:off x="6263640" y="3154680"/>
            <a:ext cx="53492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CEBB2-2660-4619-8C5C-2BF28B9E56A7}"/>
              </a:ext>
            </a:extLst>
          </p:cNvPr>
          <p:cNvSpPr>
            <a:spLocks noGrp="1"/>
          </p:cNvSpPr>
          <p:nvPr/>
        </p:nvSpPr>
        <p:spPr>
          <a:xfrm>
            <a:off x="6446520" y="3291840"/>
            <a:ext cx="4983479" cy="482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4. </a:t>
            </a: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問題與改善方向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buNone/>
              <a:defRPr sz="13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dirty="0" err="1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整理實作問題、解決方式，以及後續繼續開發的改進方向</a:t>
            </a:r>
            <a:r>
              <a:rPr sz="1300" dirty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C17420-2BEA-4A20-BC7E-7DFD4618B0D0}"/>
              </a:ext>
            </a:extLst>
          </p:cNvPr>
          <p:cNvSpPr>
            <a:spLocks noGrp="1"/>
          </p:cNvSpPr>
          <p:nvPr/>
        </p:nvSpPr>
        <p:spPr>
          <a:xfrm>
            <a:off x="3429000" y="4800600"/>
            <a:ext cx="53492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150761B5-1E84-8B92-0D5D-54B1CD241F73}"/>
              </a:ext>
            </a:extLst>
          </p:cNvPr>
          <p:cNvSpPr>
            <a:spLocks noGrp="1"/>
          </p:cNvSpPr>
          <p:nvPr/>
        </p:nvSpPr>
        <p:spPr>
          <a:xfrm>
            <a:off x="3611880" y="4970989"/>
            <a:ext cx="4983479" cy="482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en-US" altLang="zh-TW" sz="1500" b="1" dirty="0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5. </a:t>
            </a:r>
            <a:r>
              <a:rPr lang="zh-TW" altLang="zh-TW" sz="1500" b="1" dirty="0">
                <a:solidFill>
                  <a:srgbClr val="2563EB"/>
                </a:solidFill>
                <a:latin typeface="微軟正黑體"/>
              </a:rPr>
              <a:t>核心目標</a:t>
            </a:r>
            <a:endParaRPr lang="en-US" altLang="zh-TW" sz="1500" b="1" dirty="0">
              <a:solidFill>
                <a:srgbClr val="2563EB"/>
              </a:solidFill>
              <a:latin typeface="微軟正黑體"/>
            </a:endParaRPr>
          </a:p>
          <a:p>
            <a:pPr>
              <a:buNone/>
              <a:defRPr sz="13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1300" dirty="0">
                <a:solidFill>
                  <a:srgbClr val="374151"/>
                </a:solidFill>
                <a:latin typeface="Microsoft JhengHei"/>
              </a:rPr>
              <a:t>打造一套「可審查、可隔離、可驗證、可追蹤」的 AI 寫程式系統。</a:t>
            </a:r>
            <a:endParaRPr sz="1300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1391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F001F-D99B-4EC4-9A75-D42B517F0440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 err="1"/>
              <a:t>開發背景與</a:t>
            </a:r>
            <a:r>
              <a:rPr lang="zh-TW" altLang="en-US" dirty="0"/>
              <a:t>專案</a:t>
            </a:r>
            <a:r>
              <a:rPr dirty="0" err="1"/>
              <a:t>定位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CE85F4-1CFD-4011-99D4-3AE9FFD991A0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FED20-6D7C-4B39-ABC7-E3EB37310395}"/>
              </a:ext>
            </a:extLst>
          </p:cNvPr>
          <p:cNvSpPr>
            <a:spLocks noGrp="1"/>
          </p:cNvSpPr>
          <p:nvPr/>
        </p:nvSpPr>
        <p:spPr>
          <a:xfrm>
            <a:off x="594360" y="101838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100" b="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目標不是做聊天機器人，而是打造一套「</a:t>
            </a:r>
            <a:r>
              <a:rPr lang="zh-TW" altLang="en-US" sz="13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可審查、可隔離、可驗證、可追蹤</a:t>
            </a: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」的企業級開發工作台。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C238D-5514-402E-A7CC-BC52A71CA9A9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A3189F-250C-4DC3-99DA-13EE37C51519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534924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8C80F-396D-43FB-8F60-CC66A4ED2FFB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4892040" cy="1390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  <a:defRPr sz="1400" b="1">
                <a:solidFill>
                  <a:srgbClr val="DC2626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600" dirty="0"/>
              <a:t>企業 </a:t>
            </a:r>
            <a:r>
              <a:rPr lang="en-US" altLang="zh-TW" sz="1600" dirty="0"/>
              <a:t>AI </a:t>
            </a:r>
            <a:r>
              <a:rPr lang="zh-TW" altLang="en-US" sz="1600" dirty="0"/>
              <a:t>編程三大痛點</a:t>
            </a:r>
            <a:endParaRPr lang="zh-TW" altLang="en-US" sz="1600" dirty="0"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lang="zh-TW" altLang="en-US" sz="12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工具分散繁瑣：</a:t>
            </a:r>
            <a:r>
              <a:rPr lang="en-US" altLang="zh-TW" sz="12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對話、編輯器、終端機各自獨立，頻繁切換易出錯。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lang="zh-TW" altLang="en-US" sz="12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盲目覆蓋風險：</a:t>
            </a:r>
            <a:r>
              <a:rPr lang="en-US" altLang="zh-TW" sz="12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產出代碼直接寫入磁碟，極易改壞原本正常功能。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lang="zh-TW" altLang="en-US" sz="12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缺乏隔離審計：</a:t>
            </a:r>
            <a:r>
              <a:rPr lang="zh-TW" altLang="en-US" sz="12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未測試代碼直接在主機跑，缺乏資安防護與版本追蹤。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E288AA-C2BA-4A7F-BDE7-4A69B10EEEE7}"/>
              </a:ext>
            </a:extLst>
          </p:cNvPr>
          <p:cNvSpPr>
            <a:spLocks noGrp="1"/>
          </p:cNvSpPr>
          <p:nvPr/>
        </p:nvSpPr>
        <p:spPr>
          <a:xfrm>
            <a:off x="6309360" y="1417320"/>
            <a:ext cx="534924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3BCF4-7560-472F-A72E-A588C943944B}"/>
              </a:ext>
            </a:extLst>
          </p:cNvPr>
          <p:cNvSpPr>
            <a:spLocks noGrp="1"/>
          </p:cNvSpPr>
          <p:nvPr/>
        </p:nvSpPr>
        <p:spPr>
          <a:xfrm>
            <a:off x="6492240" y="1645920"/>
            <a:ext cx="4892040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  <a:defRPr sz="1600" b="1">
                <a:solidFill>
                  <a:srgbClr val="16A34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/>
                <a:ea typeface="微軟正黑體"/>
                <a:cs typeface="微軟正黑體"/>
              </a:rPr>
              <a:t>Cubi Code </a:t>
            </a:r>
            <a:r>
              <a:rPr dirty="0" err="1">
                <a:latin typeface="微軟正黑體"/>
                <a:ea typeface="微軟正黑體"/>
                <a:cs typeface="微軟正黑體"/>
              </a:rPr>
              <a:t>的做法</a:t>
            </a:r>
            <a:endParaRPr dirty="0"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一站式整合工作台：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整合編輯器、檔案樹、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Diff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比對與終端機於單一介面。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強制雙欄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Diff 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所有變更經人工確認才寫檔，「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變更防禦」降低非預期修改風險。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沙盒與審計：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隔離環境安全執行測試，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PostgreSQL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完整記錄版本歷史。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95004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302B8-16D2-4E11-B8B7-383CEC0E4DE6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00" b="1" dirty="0" err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系統架構：四個核心</a:t>
            </a:r>
            <a:r>
              <a:rPr lang="zh-TW" altLang="en-US"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模組</a:t>
            </a:r>
            <a:endParaRPr sz="2000" b="1" dirty="0">
              <a:solidFill>
                <a:srgbClr val="0F172A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625A3-3EB6-41DF-A3D9-EBCCE22B26E1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0B47E-6026-487A-92DE-49D8F0973351}"/>
              </a:ext>
            </a:extLst>
          </p:cNvPr>
          <p:cNvSpPr>
            <a:spLocks noGrp="1"/>
          </p:cNvSpPr>
          <p:nvPr/>
        </p:nvSpPr>
        <p:spPr>
          <a:xfrm>
            <a:off x="502920" y="1070511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300" dirty="0"/>
              <a:t>前端提供流暢操作、後端負責狀態協調、</a:t>
            </a: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本地模型提升資安控管</a:t>
            </a:r>
            <a:r>
              <a:rPr lang="zh-TW" altLang="en-US" sz="1300" dirty="0"/>
              <a:t>、沙盒降低執行風險。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57E95-D4F0-40C6-AEF8-9D76C8842AFE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849C03-0155-4FF3-9677-B7432FDCC6DD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260604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93677-5110-4B6B-9D86-E24A1F46FD83}"/>
              </a:ext>
            </a:extLst>
          </p:cNvPr>
          <p:cNvSpPr>
            <a:spLocks noGrp="1"/>
          </p:cNvSpPr>
          <p:nvPr/>
        </p:nvSpPr>
        <p:spPr>
          <a:xfrm>
            <a:off x="731520" y="1691639"/>
            <a:ext cx="233172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25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400" dirty="0"/>
              <a:t>前端工作台 </a:t>
            </a:r>
            <a:r>
              <a:rPr lang="en-US" altLang="zh-TW" sz="1400" dirty="0"/>
              <a:t>(Vue 3)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Monaco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編輯器支援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Ghost Text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行內補全。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整合檔案總管、雙欄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Diff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xterm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終端機。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一站式操作介面，無需在各工具間切換。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580F2E-7B2C-439F-8EC7-C5A58E48BC81}"/>
              </a:ext>
            </a:extLst>
          </p:cNvPr>
          <p:cNvSpPr>
            <a:spLocks noGrp="1"/>
          </p:cNvSpPr>
          <p:nvPr/>
        </p:nvSpPr>
        <p:spPr>
          <a:xfrm>
            <a:off x="3429000" y="1508760"/>
            <a:ext cx="260604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3ECA1-0FF6-481D-896A-A5D68F0E0E60}"/>
              </a:ext>
            </a:extLst>
          </p:cNvPr>
          <p:cNvSpPr>
            <a:spLocks noGrp="1"/>
          </p:cNvSpPr>
          <p:nvPr/>
        </p:nvSpPr>
        <p:spPr>
          <a:xfrm>
            <a:off x="3566160" y="1691639"/>
            <a:ext cx="233172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25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400" dirty="0"/>
              <a:t>後端服務 </a:t>
            </a:r>
            <a:r>
              <a:rPr lang="en-US" altLang="zh-TW" sz="1400" dirty="0"/>
              <a:t>(Node.js)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Socket.IO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雙向即時串流與任務進度反饋。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驅動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狀態機，管理排程與指令轉發。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組裝與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指定檔案 關聯。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E7AF62-EBC7-4961-B519-14F2FE85657B}"/>
              </a:ext>
            </a:extLst>
          </p:cNvPr>
          <p:cNvSpPr>
            <a:spLocks noGrp="1"/>
          </p:cNvSpPr>
          <p:nvPr/>
        </p:nvSpPr>
        <p:spPr>
          <a:xfrm>
            <a:off x="6263640" y="1508760"/>
            <a:ext cx="260604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54241-81CC-416C-A5F7-173372A1CEC0}"/>
              </a:ext>
            </a:extLst>
          </p:cNvPr>
          <p:cNvSpPr>
            <a:spLocks noGrp="1"/>
          </p:cNvSpPr>
          <p:nvPr/>
        </p:nvSpPr>
        <p:spPr>
          <a:xfrm>
            <a:off x="6400800" y="1691639"/>
            <a:ext cx="233172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25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en-US" altLang="zh-TW" sz="1400" dirty="0"/>
              <a:t>AI </a:t>
            </a:r>
            <a:r>
              <a:rPr lang="zh-TW" altLang="en-US" sz="1400" dirty="0"/>
              <a:t>模型引擎 </a:t>
            </a:r>
            <a:r>
              <a:rPr lang="en-US" altLang="zh-TW" sz="1400" dirty="0"/>
              <a:t>(Local First)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本機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Ollama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(gemma4:26b)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，代碼不出內網。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預留雲端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OpenAI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介面，支援複雜推理切換。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支援生成、改寫、分析、說明、偵錯多模式。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914D59A-2BD6-41E6-AB17-3F35B2934B19}"/>
              </a:ext>
            </a:extLst>
          </p:cNvPr>
          <p:cNvSpPr>
            <a:spLocks noGrp="1"/>
          </p:cNvSpPr>
          <p:nvPr/>
        </p:nvSpPr>
        <p:spPr>
          <a:xfrm>
            <a:off x="9098280" y="1508760"/>
            <a:ext cx="251460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C7ADD-6C7F-4687-9913-D337CD693052}"/>
              </a:ext>
            </a:extLst>
          </p:cNvPr>
          <p:cNvSpPr>
            <a:spLocks noGrp="1"/>
          </p:cNvSpPr>
          <p:nvPr/>
        </p:nvSpPr>
        <p:spPr>
          <a:xfrm>
            <a:off x="9235440" y="1691639"/>
            <a:ext cx="224028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5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400" dirty="0"/>
              <a:t>沙盒與資料庫 </a:t>
            </a:r>
            <a:r>
              <a:rPr lang="en-US" altLang="zh-TW" sz="1400" dirty="0"/>
              <a:t>(Docker)</a:t>
            </a:r>
            <a:endParaRPr lang="en-US" altLang="zh-TW" sz="1400" b="1" dirty="0">
              <a:solidFill>
                <a:srgbClr val="2563EB"/>
              </a:solidFill>
              <a:latin typeface="微軟正黑體"/>
              <a:ea typeface="微軟正黑體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隔離執行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Pytest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/Web/GUI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，預設斷網。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PostgreSQL 16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Audit Log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與版本歷程。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1F2937"/>
                </a:solidFill>
              </a:defRPr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完整保存每次執行的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消耗與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 Code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996AA1E-3032-4730-BD06-6403A7BC6812}"/>
              </a:ext>
            </a:extLst>
          </p:cNvPr>
          <p:cNvSpPr>
            <a:spLocks noGrp="1"/>
          </p:cNvSpPr>
          <p:nvPr/>
        </p:nvSpPr>
        <p:spPr>
          <a:xfrm>
            <a:off x="594360" y="4800600"/>
            <a:ext cx="1101852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100BC0-C7E1-431F-BE8F-683CADBC137D}"/>
              </a:ext>
            </a:extLst>
          </p:cNvPr>
          <p:cNvSpPr>
            <a:spLocks noGrp="1"/>
          </p:cNvSpPr>
          <p:nvPr/>
        </p:nvSpPr>
        <p:spPr>
          <a:xfrm>
            <a:off x="777240" y="5408786"/>
            <a:ext cx="1065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1D4ED8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400" b="1" dirty="0">
                <a:latin typeface="微軟正黑體"/>
                <a:ea typeface="微軟正黑體"/>
                <a:cs typeface="微軟正黑體"/>
              </a:rPr>
              <a:t>核心價值</a:t>
            </a:r>
            <a:r>
              <a:rPr sz="1400" b="1" dirty="0">
                <a:latin typeface="微軟正黑體"/>
                <a:ea typeface="微軟正黑體"/>
                <a:cs typeface="微軟正黑體"/>
              </a:rPr>
              <a:t>：</a:t>
            </a:r>
            <a:r>
              <a:rPr lang="zh-TW" altLang="zh-TW" sz="1400" dirty="0">
                <a:solidFill>
                  <a:srgbClr val="1D4ED8"/>
                </a:solidFill>
                <a:latin typeface="微軟正黑體"/>
              </a:rPr>
              <a:t>前端給體驗、後端控流程、本地模型保資安、Docker 沙盒防風險</a:t>
            </a:r>
            <a:r>
              <a:rPr sz="1400" b="1" dirty="0"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115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2E5976-7666-4B7E-9366-458F076D7F93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t>模型與資料流程：從需求到驗證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06C71-F573-4699-AE39-7FAEC2F10042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7F085-A9AD-4861-B528-DABC6FF934A4}"/>
              </a:ext>
            </a:extLst>
          </p:cNvPr>
          <p:cNvSpPr>
            <a:spLocks noGrp="1"/>
          </p:cNvSpPr>
          <p:nvPr/>
        </p:nvSpPr>
        <p:spPr>
          <a:xfrm>
            <a:off x="594360" y="99613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00" dirty="0" err="1"/>
              <a:t>每次</a:t>
            </a:r>
            <a:r>
              <a:rPr sz="1300" dirty="0"/>
              <a:t> AI </a:t>
            </a:r>
            <a:r>
              <a:rPr sz="1300" dirty="0" err="1"/>
              <a:t>修改都要經過「產生</a:t>
            </a:r>
            <a:r>
              <a:rPr sz="1300" dirty="0"/>
              <a:t> → </a:t>
            </a:r>
            <a:r>
              <a:rPr sz="1300" dirty="0" err="1"/>
              <a:t>審查</a:t>
            </a:r>
            <a:r>
              <a:rPr sz="1300" dirty="0"/>
              <a:t> → </a:t>
            </a:r>
            <a:r>
              <a:rPr sz="1300" dirty="0" err="1"/>
              <a:t>套用</a:t>
            </a:r>
            <a:r>
              <a:rPr sz="1300" dirty="0"/>
              <a:t> → </a:t>
            </a:r>
            <a:r>
              <a:rPr sz="1300" dirty="0" err="1"/>
              <a:t>測試</a:t>
            </a:r>
            <a:r>
              <a:rPr sz="1300" dirty="0"/>
              <a:t> → </a:t>
            </a:r>
            <a:r>
              <a:rPr sz="1300" dirty="0" err="1"/>
              <a:t>紀錄」的閉環</a:t>
            </a:r>
            <a:r>
              <a:rPr sz="1300" dirty="0"/>
              <a:t>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31361-070F-444C-8957-38190175A4EF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9FCD3B-7E74-4367-B300-2D748F719A94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411480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2BA0A-6182-42F1-82BD-F95DEF6F0E45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3749039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 err="1"/>
              <a:t>模型使用方式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本地優先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(Local)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採用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Ollama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gemma4:26b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，原始碼留在內網，降低外洩風險並減少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使用成本。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雲端彈性切換：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已預留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OpenAI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相容介面，待企業資安核准與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配置即可啟用。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完整審計紀錄：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PostgreSQL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記錄使用者、時間戳、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消耗與模型版本。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1AF976-0CF9-43E5-A547-6D2C88F8A2EF}"/>
              </a:ext>
            </a:extLst>
          </p:cNvPr>
          <p:cNvSpPr>
            <a:spLocks noGrp="1"/>
          </p:cNvSpPr>
          <p:nvPr/>
        </p:nvSpPr>
        <p:spPr>
          <a:xfrm>
            <a:off x="4937760" y="1417320"/>
            <a:ext cx="667512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ECCF6-24D3-40F9-A4C9-7405C68CA327}"/>
              </a:ext>
            </a:extLst>
          </p:cNvPr>
          <p:cNvSpPr>
            <a:spLocks noGrp="1"/>
          </p:cNvSpPr>
          <p:nvPr/>
        </p:nvSpPr>
        <p:spPr>
          <a:xfrm>
            <a:off x="5166360" y="1600200"/>
            <a:ext cx="621792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 err="1">
                <a:latin typeface="微軟正黑體"/>
                <a:ea typeface="微軟正黑體"/>
                <a:cs typeface="微軟正黑體"/>
              </a:rPr>
              <a:t>資料處理流程</a:t>
            </a:r>
            <a:endParaRPr lang="zh-TW" altLang="en-US" dirty="0">
              <a:latin typeface="微軟正黑體"/>
              <a:ea typeface="微軟正黑體"/>
              <a:cs typeface="微軟正黑體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需求輸入：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輸入自然語言需求，可透過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指定檔案 導入專案上下文。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模型推理：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若涉及程式碼修改，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依據上下文產生修改方案，並先進入雙欄紅綠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Diff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比對。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人工審核：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工程師確認變更無誤後點選「套用」，才正式寫入磁碟。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沙盒驗證：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隔離環境執行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Pytest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或啟動服務，紀錄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Audit Log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8586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6CA6D7-7F29-425E-B2DC-095A52439C81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Demo 前</a:t>
            </a:r>
            <a:r>
              <a:rPr lang="zh-TW" altLang="en-US" dirty="0"/>
              <a:t>環境</a:t>
            </a:r>
            <a:r>
              <a:rPr dirty="0" err="1"/>
              <a:t>確認：服務與</a:t>
            </a:r>
            <a:r>
              <a:rPr lang="zh-TW" altLang="en-US" dirty="0"/>
              <a:t>沙盒運作狀態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5DAFF-7082-4AEB-BF85-83FE5385EFBD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146EA-9183-4D9A-B885-B8BA0BE8137C}"/>
              </a:ext>
            </a:extLst>
          </p:cNvPr>
          <p:cNvSpPr>
            <a:spLocks noGrp="1"/>
          </p:cNvSpPr>
          <p:nvPr/>
        </p:nvSpPr>
        <p:spPr>
          <a:xfrm>
            <a:off x="594360" y="988293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2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300" dirty="0">
                <a:latin typeface="微軟正黑體"/>
                <a:ea typeface="微軟正黑體"/>
                <a:cs typeface="微軟正黑體"/>
              </a:rPr>
              <a:t>正式展示前已確認：前端、後端、</a:t>
            </a:r>
            <a:r>
              <a:rPr lang="en-US" altLang="zh-TW" sz="1300" dirty="0" err="1">
                <a:latin typeface="微軟正黑體"/>
                <a:ea typeface="微軟正黑體"/>
                <a:cs typeface="微軟正黑體"/>
              </a:rPr>
              <a:t>Ollama</a:t>
            </a:r>
            <a:r>
              <a:rPr lang="zh-TW" altLang="en-US" sz="1300" dirty="0">
                <a:latin typeface="微軟正黑體"/>
                <a:ea typeface="微軟正黑體"/>
                <a:cs typeface="微軟正黑體"/>
              </a:rPr>
              <a:t>、</a:t>
            </a:r>
            <a:r>
              <a:rPr lang="en-US" altLang="zh-TW" sz="1300" dirty="0">
                <a:latin typeface="微軟正黑體"/>
                <a:ea typeface="微軟正黑體"/>
                <a:cs typeface="微軟正黑體"/>
              </a:rPr>
              <a:t>PostgreSQL </a:t>
            </a:r>
            <a:r>
              <a:rPr lang="zh-TW" altLang="en-US" sz="1300" dirty="0">
                <a:latin typeface="微軟正黑體"/>
                <a:ea typeface="微軟正黑體"/>
                <a:cs typeface="微軟正黑體"/>
              </a:rPr>
              <a:t>與 </a:t>
            </a:r>
            <a:r>
              <a:rPr lang="en-US" altLang="zh-TW" sz="1300" dirty="0">
                <a:latin typeface="微軟正黑體"/>
                <a:ea typeface="微軟正黑體"/>
                <a:cs typeface="微軟正黑體"/>
              </a:rPr>
              <a:t>Docker Sandbox </a:t>
            </a:r>
            <a:r>
              <a:rPr lang="zh-TW" altLang="en-US" sz="1300" dirty="0">
                <a:latin typeface="微軟正黑體"/>
                <a:ea typeface="微軟正黑體"/>
                <a:cs typeface="微軟正黑體"/>
              </a:rPr>
              <a:t>均可運作。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F744A-3190-4DFE-8FAF-A0F1A1672EEC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E0156-F4DD-4AFC-AEDF-6149A5D1DBA4}"/>
              </a:ext>
            </a:extLst>
          </p:cNvPr>
          <p:cNvSpPr>
            <a:spLocks noGrp="1"/>
          </p:cNvSpPr>
          <p:nvPr/>
        </p:nvSpPr>
        <p:spPr>
          <a:xfrm>
            <a:off x="594360" y="13716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13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1｜PostgreSQL + Docker Sandbox</a:t>
            </a:r>
          </a:p>
        </p:txBody>
      </p:sp>
      <p:pic>
        <p:nvPicPr>
          <p:cNvPr id="2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3520440" cy="201168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D702EB-9F06-4209-A001-1569ABB965F2}"/>
              </a:ext>
            </a:extLst>
          </p:cNvPr>
          <p:cNvSpPr>
            <a:spLocks noGrp="1"/>
          </p:cNvSpPr>
          <p:nvPr/>
        </p:nvSpPr>
        <p:spPr>
          <a:xfrm>
            <a:off x="594360" y="3886200"/>
            <a:ext cx="352044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5DD050-824D-49B1-9E35-FBA5A698AE3B}"/>
              </a:ext>
            </a:extLst>
          </p:cNvPr>
          <p:cNvSpPr>
            <a:spLocks noGrp="1"/>
          </p:cNvSpPr>
          <p:nvPr/>
        </p:nvSpPr>
        <p:spPr>
          <a:xfrm>
            <a:off x="731520" y="402336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b="1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操作：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啟動 </a:t>
            </a:r>
            <a:r>
              <a:rPr lang="en-US" altLang="zh-TW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PostgreSQL 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與 </a:t>
            </a:r>
            <a:r>
              <a:rPr lang="en-US" altLang="zh-TW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Docker Sandbox 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映像檔。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b="1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結果：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資料庫與隔離測試環境可用。</a:t>
            </a:r>
            <a:endParaRPr lang="zh-TW" altLang="en-US" sz="1200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5C781-58C3-453A-94C2-66C3A235BCA2}"/>
              </a:ext>
            </a:extLst>
          </p:cNvPr>
          <p:cNvSpPr>
            <a:spLocks noGrp="1"/>
          </p:cNvSpPr>
          <p:nvPr/>
        </p:nvSpPr>
        <p:spPr>
          <a:xfrm>
            <a:off x="4343400" y="13716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13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2｜Backend </a:t>
            </a:r>
            <a:r>
              <a:rPr dirty="0" err="1"/>
              <a:t>啟動與資料庫初始化</a:t>
            </a:r>
            <a:endParaRPr dirty="0"/>
          </a:p>
        </p:txBody>
      </p:sp>
      <p:pic>
        <p:nvPicPr>
          <p:cNvPr id="3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37360"/>
            <a:ext cx="3520440" cy="201168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6FB5B4B-5085-4987-B275-C3EC69C39869}"/>
              </a:ext>
            </a:extLst>
          </p:cNvPr>
          <p:cNvSpPr>
            <a:spLocks noGrp="1"/>
          </p:cNvSpPr>
          <p:nvPr/>
        </p:nvSpPr>
        <p:spPr>
          <a:xfrm>
            <a:off x="4343400" y="3886200"/>
            <a:ext cx="352044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AAA375-2248-4C44-97F3-D568423D1F42}"/>
              </a:ext>
            </a:extLst>
          </p:cNvPr>
          <p:cNvSpPr>
            <a:spLocks noGrp="1"/>
          </p:cNvSpPr>
          <p:nvPr/>
        </p:nvSpPr>
        <p:spPr>
          <a:xfrm>
            <a:off x="4480560" y="4023360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b="1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操作：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初始化資料庫並啟動後端服務。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b="1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結果：</a:t>
            </a:r>
            <a:r>
              <a:rPr lang="en-US" altLang="zh-TW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Backend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 可回應 </a:t>
            </a:r>
            <a:r>
              <a:rPr lang="en-US" altLang="zh-TW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API 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健康檢查。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5624C-31F9-4C9E-B8A5-148144D7203F}"/>
              </a:ext>
            </a:extLst>
          </p:cNvPr>
          <p:cNvSpPr>
            <a:spLocks noGrp="1"/>
          </p:cNvSpPr>
          <p:nvPr/>
        </p:nvSpPr>
        <p:spPr>
          <a:xfrm>
            <a:off x="8092440" y="13716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13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3｜Frontend </a:t>
            </a:r>
            <a:r>
              <a:rPr dirty="0" err="1"/>
              <a:t>啟動並開啟系統</a:t>
            </a:r>
            <a:endParaRPr dirty="0"/>
          </a:p>
        </p:txBody>
      </p:sp>
      <p:pic>
        <p:nvPicPr>
          <p:cNvPr id="3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737360"/>
            <a:ext cx="3520440" cy="201168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8B5AE6-1AE3-427A-AEF8-16AD1B8585C5}"/>
              </a:ext>
            </a:extLst>
          </p:cNvPr>
          <p:cNvSpPr>
            <a:spLocks noGrp="1"/>
          </p:cNvSpPr>
          <p:nvPr/>
        </p:nvSpPr>
        <p:spPr>
          <a:xfrm>
            <a:off x="8092440" y="3886200"/>
            <a:ext cx="352044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7971B-629F-4DE1-AFFF-0C77CB3128EE}"/>
              </a:ext>
            </a:extLst>
          </p:cNvPr>
          <p:cNvSpPr>
            <a:spLocks noGrp="1"/>
          </p:cNvSpPr>
          <p:nvPr/>
        </p:nvSpPr>
        <p:spPr>
          <a:xfrm>
            <a:off x="8229600" y="402336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b="1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操作：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啟動 </a:t>
            </a:r>
            <a:r>
              <a:rPr lang="en-US" altLang="zh-TW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Frontend Vite 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服務。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b="1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結果：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系統可從 </a:t>
            </a:r>
            <a:r>
              <a:rPr lang="en-US" altLang="zh-TW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localhost:5173 </a:t>
            </a:r>
            <a:r>
              <a:rPr lang="zh-TW" altLang="en-US" sz="1200" dirty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rPr>
              <a:t>進入工作台。</a:t>
            </a:r>
          </a:p>
        </p:txBody>
      </p:sp>
    </p:spTree>
    <p:extLst>
      <p:ext uri="{BB962C8B-B14F-4D97-AF65-F5344CB8AC3E}">
        <p14:creationId xmlns:p14="http://schemas.microsoft.com/office/powerpoint/2010/main" val="139369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D44E76-424A-4D50-B41B-6D1DC6E58447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dirty="0"/>
              <a:t>核心介面：一站式 </a:t>
            </a:r>
            <a:r>
              <a:rPr lang="en-US" altLang="zh-TW" dirty="0"/>
              <a:t>AI</a:t>
            </a:r>
            <a:r>
              <a:rPr lang="zh-TW" altLang="en-US" dirty="0"/>
              <a:t> 開發工作台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D973E-E8E3-40B3-8E13-32440957F230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3151D-29A9-4059-8E32-A45512562462}"/>
              </a:ext>
            </a:extLst>
          </p:cNvPr>
          <p:cNvSpPr>
            <a:spLocks noGrp="1"/>
          </p:cNvSpPr>
          <p:nvPr/>
        </p:nvSpPr>
        <p:spPr>
          <a:xfrm>
            <a:off x="594360" y="988665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2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1300" dirty="0">
                <a:solidFill>
                  <a:srgbClr val="374151"/>
                </a:solidFill>
                <a:latin typeface="Microsoft JhengHei"/>
              </a:rPr>
              <a:t>操作介面長怎樣？等一下 Demo 要看哪裡？</a:t>
            </a:r>
            <a:endParaRPr sz="1300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2450B-1CCC-4F24-BE55-37EB127FA286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07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89204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A92834-44EF-4BE3-A0EE-2AF7A7B124C0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F90B-8D2A-488C-96DD-AACB2AC3D384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203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500" b="1" dirty="0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雛形功能</a:t>
            </a: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介紹</a:t>
            </a:r>
            <a:endParaRPr dirty="0"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50" b="1" dirty="0" err="1">
                <a:latin typeface="微軟正黑體"/>
                <a:ea typeface="微軟正黑體"/>
                <a:cs typeface="微軟正黑體"/>
              </a:rPr>
              <a:t>左側</a:t>
            </a:r>
            <a:r>
              <a:rPr sz="1150" b="1" dirty="0">
                <a:latin typeface="微軟正黑體"/>
                <a:ea typeface="微軟正黑體"/>
                <a:cs typeface="微軟正黑體"/>
              </a:rPr>
              <a:t>：</a:t>
            </a:r>
            <a:r>
              <a:rPr lang="zh-TW" altLang="zh-TW" sz="1150" dirty="0">
                <a:solidFill>
                  <a:srgbClr val="334155"/>
                </a:solidFill>
                <a:latin typeface="微軟正黑體"/>
              </a:rPr>
              <a:t>即時監控 API、Ollama、Postgre</a:t>
            </a:r>
            <a:r>
              <a:rPr lang="en-US" altLang="zh-TW" sz="1150" dirty="0">
                <a:solidFill>
                  <a:srgbClr val="334155"/>
                </a:solidFill>
                <a:latin typeface="微軟正黑體"/>
              </a:rPr>
              <a:t>SQL</a:t>
            </a:r>
            <a:r>
              <a:rPr lang="zh-TW" altLang="zh-TW" sz="1150" dirty="0">
                <a:solidFill>
                  <a:srgbClr val="334155"/>
                </a:solidFill>
                <a:latin typeface="微軟正黑體"/>
              </a:rPr>
              <a:t>、Docker</a:t>
            </a:r>
            <a:r>
              <a:rPr sz="1150" b="1" dirty="0">
                <a:latin typeface="微軟正黑體"/>
                <a:ea typeface="微軟正黑體"/>
                <a:cs typeface="微軟正黑體"/>
              </a:rPr>
              <a:t>。</a:t>
            </a:r>
            <a:endParaRPr sz="1150" dirty="0"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50" b="1" dirty="0" err="1">
                <a:latin typeface="微軟正黑體"/>
                <a:ea typeface="微軟正黑體"/>
                <a:cs typeface="微軟正黑體"/>
              </a:rPr>
              <a:t>中間</a:t>
            </a:r>
            <a:r>
              <a:rPr sz="1150" b="1" dirty="0">
                <a:latin typeface="微軟正黑體"/>
                <a:ea typeface="微軟正黑體"/>
                <a:cs typeface="微軟正黑體"/>
              </a:rPr>
              <a:t>：</a:t>
            </a:r>
            <a:r>
              <a:rPr lang="zh-TW" altLang="zh-TW" sz="1150" dirty="0">
                <a:solidFill>
                  <a:srgbClr val="334155"/>
                </a:solidFill>
                <a:latin typeface="微軟正黑體"/>
              </a:rPr>
              <a:t>Monaco 編輯器、Diff 差異檢視、測試結果與沙盒終端機。</a:t>
            </a:r>
            <a:endParaRPr lang="en-US" altLang="zh-TW" sz="1150" dirty="0">
              <a:solidFill>
                <a:srgbClr val="334155"/>
              </a:solidFill>
              <a:latin typeface="微軟正黑體"/>
            </a:endParaRP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50" b="1" dirty="0" err="1">
                <a:latin typeface="微軟正黑體"/>
                <a:ea typeface="微軟正黑體"/>
                <a:cs typeface="微軟正黑體"/>
              </a:rPr>
              <a:t>右側</a:t>
            </a:r>
            <a:r>
              <a:rPr sz="1150" b="1" dirty="0">
                <a:latin typeface="微軟正黑體"/>
                <a:ea typeface="微軟正黑體"/>
                <a:cs typeface="微軟正黑體"/>
              </a:rPr>
              <a:t>：</a:t>
            </a:r>
            <a:r>
              <a:rPr lang="zh-TW" altLang="zh-TW" sz="1150" dirty="0">
                <a:solidFill>
                  <a:srgbClr val="334155"/>
                </a:solidFill>
                <a:latin typeface="微軟正黑體"/>
              </a:rPr>
              <a:t>AI 任務面板（8 大功能模式、@指定檔案、Agent 規劃模式）。</a:t>
            </a:r>
            <a:endParaRPr lang="en-US" altLang="zh-TW" sz="1150" dirty="0">
              <a:solidFill>
                <a:srgbClr val="334155"/>
              </a:solidFill>
              <a:latin typeface="微軟正黑體"/>
            </a:endParaRP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150" b="1" dirty="0">
                <a:solidFill>
                  <a:srgbClr val="334155"/>
                </a:solidFill>
                <a:latin typeface="微軟正黑體"/>
              </a:rPr>
              <a:t>重點：</a:t>
            </a:r>
            <a:r>
              <a:rPr lang="zh-TW" altLang="en-US" sz="1150" dirty="0">
                <a:solidFill>
                  <a:srgbClr val="334155"/>
                </a:solidFill>
                <a:latin typeface="微軟正黑體"/>
              </a:rPr>
              <a:t>使用者不用在 </a:t>
            </a:r>
            <a:r>
              <a:rPr lang="en-US" altLang="zh-TW" sz="1150" dirty="0">
                <a:solidFill>
                  <a:srgbClr val="334155"/>
                </a:solidFill>
                <a:latin typeface="微軟正黑體"/>
              </a:rPr>
              <a:t>AI</a:t>
            </a:r>
            <a:r>
              <a:rPr lang="zh-TW" altLang="en-US" sz="1150" dirty="0">
                <a:solidFill>
                  <a:srgbClr val="334155"/>
                </a:solidFill>
                <a:latin typeface="微軟正黑體"/>
              </a:rPr>
              <a:t> 對話、編輯器、終端機之間來回切換。</a:t>
            </a:r>
            <a:endParaRPr lang="en-US" altLang="zh-TW" sz="1150" dirty="0">
              <a:solidFill>
                <a:srgbClr val="334155"/>
              </a:solidFill>
              <a:latin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136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1A5D9-C0B3-4788-82E8-FCA91FE73AD0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Demo 1：Monaco </a:t>
            </a:r>
            <a:r>
              <a:rPr lang="en-US" altLang="zh-TW" dirty="0"/>
              <a:t>Editor </a:t>
            </a:r>
            <a:r>
              <a:rPr dirty="0" err="1"/>
              <a:t>行內補全</a:t>
            </a:r>
            <a:r>
              <a:rPr lang="en-US" dirty="0"/>
              <a:t> (Ghost Text)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8BF83-88D3-44A5-8D88-3D91CE214861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9EC3E-D9AC-405C-B5FA-8EFDC37FB999}"/>
              </a:ext>
            </a:extLst>
          </p:cNvPr>
          <p:cNvSpPr>
            <a:spLocks noGrp="1"/>
          </p:cNvSpPr>
          <p:nvPr/>
        </p:nvSpPr>
        <p:spPr>
          <a:xfrm>
            <a:off x="609600" y="996973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374151"/>
                </a:solidFill>
                <a:latin typeface="Microsoft JhengHei"/>
              </a:defRPr>
            </a:pP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操作：在編輯器鍵入註解（例如：</a:t>
            </a:r>
            <a:r>
              <a:rPr lang="en-US" altLang="zh-TW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建立電子指南針），系統顯示灰色 </a:t>
            </a:r>
            <a:r>
              <a:rPr lang="en-US" altLang="zh-TW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Ghost Text </a:t>
            </a: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與浮動操作列。</a:t>
            </a:r>
            <a:endParaRPr lang="en-US" altLang="zh-TW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B4AF6-3EC8-45CF-BFF2-654D4CFD6FDB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08</a:t>
            </a:r>
          </a:p>
        </p:txBody>
      </p:sp>
      <p:pic>
        <p:nvPicPr>
          <p:cNvPr id="2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184395B0-129A-A142-650F-1ABD18A2FCA2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6BF351F6-BB82-9A3C-EAAF-5220834D220B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打字後</a:t>
            </a: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預測：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輸入註解或開頭，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系統自動接續顯示程式碼建議。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快速鍵操作：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 接受補全、Ctrl+Space 觸發、Esc 取消、Shift+Alt+F 格式化。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不跳出畫面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：直接在工作台內完成，省去複製貼上時間。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26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5862B7-A664-40F7-BB6C-BEB22C8AB6D7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Demo 2：</a:t>
            </a:r>
            <a:r>
              <a:rPr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自然語言程式碼生成與驗證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B5BE4C-4404-40CA-AB86-C6F28E437A80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11F9A-72B8-47F1-B7B2-E9E437DDF4A0}"/>
              </a:ext>
            </a:extLst>
          </p:cNvPr>
          <p:cNvSpPr>
            <a:spLocks noGrp="1"/>
          </p:cNvSpPr>
          <p:nvPr/>
        </p:nvSpPr>
        <p:spPr>
          <a:xfrm>
            <a:off x="594360" y="100895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30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使用者輸入需求後，系統可自動產生對應的程式碼或範例。 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FEA3F-23AE-422E-AF08-133849035B60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09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78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55F8C6-7330-4982-B4C2-9BA1C7B3FADA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76405-3694-4A06-8504-DF0F930529FA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一句話寫程式：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輸入中文需求，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自動生成完整程式碼。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確認後存檔：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變更先顯示紅綠 Diff 比對，人工確認才寫入。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沙盒即時預覽：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在安全隔離環境直接開啟網頁，立即測試功能。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258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5B07B-BD06-68A8-F684-0202B389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4429D57B-B010-4C29-0FAA-27D79AF69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3301"/>
            <a:ext cx="6995160" cy="4343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575A2-4F96-F401-1670-93F6E2B826B4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en-US" altLang="zh-TW" dirty="0"/>
              <a:t>Demo 3</a:t>
            </a:r>
            <a:r>
              <a:rPr lang="zh-TW" altLang="en-US" dirty="0"/>
              <a:t>：</a:t>
            </a:r>
            <a:r>
              <a:rPr lang="zh-TW" altLang="en-US"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程式碼改寫與 </a:t>
            </a:r>
            <a:r>
              <a:rPr lang="en-US" altLang="zh-TW"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Diff </a:t>
            </a:r>
            <a:r>
              <a:rPr lang="zh-TW" altLang="en-US"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驗證</a:t>
            </a:r>
            <a:endParaRPr lang="zh-TW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ADCDE-C39F-1A09-9571-3795E9EA6D28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F4CB7-5D1D-497F-AC49-9E6E3361988F}"/>
              </a:ext>
            </a:extLst>
          </p:cNvPr>
          <p:cNvSpPr>
            <a:spLocks noGrp="1"/>
          </p:cNvSpPr>
          <p:nvPr/>
        </p:nvSpPr>
        <p:spPr>
          <a:xfrm>
            <a:off x="594360" y="100895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使用者提供既有程式後，系統可依照指定需求進行改寫，例如優化結構、重構、增加註解或調整寫法。 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96CA5-D6FC-65EF-DF86-A5CB69474FF2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lang="en-US" dirty="0"/>
              <a:t>10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B201BA-7104-7A4B-F71B-BB8811F85DE0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13B4E-3E30-1136-5C26-8A39B5378411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精準局部修改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只修改需要調整的位置，降低對既有程式的影響。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雙欄清楚比對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：左看原始、右看修改，所有變更一目了然。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修改歷史可查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：記錄每次修改時間與內容，支援隨時回溯。</a:t>
            </a:r>
          </a:p>
        </p:txBody>
      </p:sp>
    </p:spTree>
    <p:extLst>
      <p:ext uri="{BB962C8B-B14F-4D97-AF65-F5344CB8AC3E}">
        <p14:creationId xmlns:p14="http://schemas.microsoft.com/office/powerpoint/2010/main" val="166589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68796-98FF-466F-8DEC-A77A9CFF605B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Demo 4：</a:t>
            </a:r>
            <a:r>
              <a:rPr lang="zh-TW" altLang="en-US" dirty="0"/>
              <a:t>多檔案建立或修改檔案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71097-DFC3-4030-8366-A97B8EFD2827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9E12A-15D3-4987-B5D7-FB3FD4A737A2}"/>
              </a:ext>
            </a:extLst>
          </p:cNvPr>
          <p:cNvSpPr>
            <a:spLocks noGrp="1"/>
          </p:cNvSpPr>
          <p:nvPr/>
        </p:nvSpPr>
        <p:spPr>
          <a:xfrm>
            <a:off x="594360" y="995803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30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系統可根據需求判斷應該新增檔案、修改既有檔案，或補充設定檔。 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D5598-A200-4D2F-BFED-33A57CB59092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11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A06E36-85EF-4699-87BE-25FC4451960F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17D94-F66E-4A23-AE87-5B129315A160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自動模組化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：自動把單檔拆成獨立的樣式 (CSS) 與腳本 (JS)。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多檔案同步更新：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關聯檔案一次審查、同步寫入，降低漏改風險。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沙盒驗證完整性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以 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HTML 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為入口檢查 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CSS/JS 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引用與 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JS 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語法。</a:t>
            </a:r>
            <a:endParaRPr lang="zh-TW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4754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344FF-4067-4918-A6CB-EF98964742C7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 err="1"/>
              <a:t>補充：X</a:t>
            </a:r>
            <a:r>
              <a:rPr dirty="0"/>
              <a:t> Server / </a:t>
            </a:r>
            <a:r>
              <a:rPr dirty="0" err="1"/>
              <a:t>VcXsrv</a:t>
            </a:r>
            <a:r>
              <a:rPr dirty="0"/>
              <a:t> GUI </a:t>
            </a:r>
            <a:r>
              <a:rPr lang="zh-TW" altLang="en-US" dirty="0"/>
              <a:t>視窗轉發驗證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1B0D3-21DF-4721-A7D9-CF6DFC42CE45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59F33-4C81-4B31-8D6D-F3E8B4988944}"/>
              </a:ext>
            </a:extLst>
          </p:cNvPr>
          <p:cNvSpPr>
            <a:spLocks noGrp="1"/>
          </p:cNvSpPr>
          <p:nvPr/>
        </p:nvSpPr>
        <p:spPr>
          <a:xfrm>
            <a:off x="594360" y="100895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在沙盒內執行桌面視窗程式，畫面自動轉發到 Windows 顯示。</a:t>
            </a:r>
            <a:endParaRPr lang="zh-TW" altLang="en-US" sz="1300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E02EE-3B59-4B2D-90DF-8E7742C53598}"/>
              </a:ext>
            </a:extLst>
          </p:cNvPr>
          <p:cNvSpPr>
            <a:spLocks noGrp="1"/>
          </p:cNvSpPr>
          <p:nvPr/>
        </p:nvSpPr>
        <p:spPr>
          <a:xfrm>
            <a:off x="11201400" y="6446520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12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CF9750C-B277-44C9-A307-E52576185B0D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BAC02-5D59-4AC0-95DF-31157169B98A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072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微軟正黑體"/>
              </a:defRPr>
            </a:pPr>
            <a:r>
              <a:rPr lang="en-US" altLang="zh-TW" sz="15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 Server GUI </a:t>
            </a:r>
            <a:r>
              <a:rPr lang="zh-TW" altLang="en-US" sz="15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視窗轉發實測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GUI 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視窗轉發：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Linux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沙盒內的桌面程式，能在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顯示操作。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支援多種應用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：不只支援網頁與終端機，連桌面 GUI 也能測試。</a:t>
            </a:r>
            <a:endParaRPr lang="en-US" altLang="zh-TW" sz="1200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endParaRPr>
          </a:p>
        </p:txBody>
      </p:sp>
      <p:pic>
        <p:nvPicPr>
          <p:cNvPr id="7" name="圖片 18">
            <a:extLst>
              <a:ext uri="{FF2B5EF4-FFF2-40B4-BE49-F238E27FC236}">
                <a16:creationId xmlns:a16="http://schemas.microsoft.com/office/drawing/2014/main" id="{720B74B6-8D3B-2D9A-8615-AE0BE8A49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476" y="3172117"/>
            <a:ext cx="1886047" cy="27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15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4D013F-BF2D-470A-BC3E-3D443D5C68B1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t>Demo 5：程式語言轉換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E950C-8FF3-4F73-83A2-BC7568EA90D1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EF2FA-94F8-46C3-95F9-B4EE3A760291}"/>
              </a:ext>
            </a:extLst>
          </p:cNvPr>
          <p:cNvSpPr>
            <a:spLocks noGrp="1"/>
          </p:cNvSpPr>
          <p:nvPr/>
        </p:nvSpPr>
        <p:spPr>
          <a:xfrm>
            <a:off x="594360" y="9739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例如將 </a:t>
            </a:r>
            <a:r>
              <a:rPr lang="en-US" altLang="zh-TW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程式轉換成 </a:t>
            </a:r>
            <a:r>
              <a:rPr lang="en-US" altLang="zh-TW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Java</a:t>
            </a: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或其他語言，並說明轉換後的差異，或需人工介入的部份。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269D2-8F50-486F-BC14-45917CBE395F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6492F0-7A01-4310-A1CC-8C9D63E29480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6DC2C-03AE-4212-8D22-A625445D8784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跨語言自動轉換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：AI 自動將程式邏輯翻寫成另一種語言語法。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原檔案不受影響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：保留原本程式碼，獨立建立目標語言新檔案。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先審查再套用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：轉換結果先看 Diff 確認，審核通過才存檔。</a:t>
            </a:r>
          </a:p>
        </p:txBody>
      </p:sp>
    </p:spTree>
    <p:extLst>
      <p:ext uri="{BB962C8B-B14F-4D97-AF65-F5344CB8AC3E}">
        <p14:creationId xmlns:p14="http://schemas.microsoft.com/office/powerpoint/2010/main" val="15524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5F110-C0A2-4F87-BDD8-C7FFAC2E4C30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t>Demo 6：程式分析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D4433-CB57-4E8F-9203-CDBA5B047B63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BD700-8A59-4524-8A14-9733B2A6443C}"/>
              </a:ext>
            </a:extLst>
          </p:cNvPr>
          <p:cNvSpPr>
            <a:spLocks noGrp="1"/>
          </p:cNvSpPr>
          <p:nvPr/>
        </p:nvSpPr>
        <p:spPr>
          <a:xfrm>
            <a:off x="594360" y="100895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系統可讀取或分析專案中的檔案內容，判斷目前程式結構、檔案用途與可能需要修改的位置。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037CB-EB7E-4362-BF88-F7152696C342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14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CA3CCE-282E-4CC4-BAD3-94A180EF58C6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9737B-E920-41DD-AD5A-563886495B23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看懂整個專案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：自動辨識專案包含哪些檔案與技術架構。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抓出依賴與設定：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自動列出使用哪些套件與伺服器連接埠（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Port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）設定。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標出關鍵程式碼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：快速找出核心函式位置，加速維護與交接。</a:t>
            </a:r>
          </a:p>
        </p:txBody>
      </p:sp>
    </p:spTree>
    <p:extLst>
      <p:ext uri="{BB962C8B-B14F-4D97-AF65-F5344CB8AC3E}">
        <p14:creationId xmlns:p14="http://schemas.microsoft.com/office/powerpoint/2010/main" val="588248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046D7-83B1-4A51-8AFB-78F531EEF66C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/>
                <a:ea typeface="微軟正黑體"/>
                <a:cs typeface="微軟正黑體"/>
              </a:rPr>
              <a:t>Demo 7：程式說明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139A1D-829F-4C31-B52F-429EE00BFC88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22642-2E5C-47B9-97C3-FB3032BA7AAC}"/>
              </a:ext>
            </a:extLst>
          </p:cNvPr>
          <p:cNvSpPr>
            <a:spLocks noGrp="1"/>
          </p:cNvSpPr>
          <p:nvPr/>
        </p:nvSpPr>
        <p:spPr>
          <a:xfrm>
            <a:off x="594360" y="100895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使用者可以詢問某段程式碼的用途，系統需能用清楚的方式解釋邏輯與流程。</a:t>
            </a:r>
            <a:endParaRPr lang="zh-TW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162A8-EE76-4B9A-A829-C85BA13442D3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15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FA2ED0-3596-4F47-A2CD-57D2252BA2B1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BBBEE-F991-42EC-BF3C-95C1B4BA858A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白話解釋代碼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：將複雜的程式邏輯轉化為清晰易懂的說明。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拆解流程步驟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：一步步說明資料怎麼流動、狀態如何判斷。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降低理解成本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：幫助工程師與主管快速看懂他人寫的程式。</a:t>
            </a:r>
          </a:p>
        </p:txBody>
      </p:sp>
    </p:spTree>
    <p:extLst>
      <p:ext uri="{BB962C8B-B14F-4D97-AF65-F5344CB8AC3E}">
        <p14:creationId xmlns:p14="http://schemas.microsoft.com/office/powerpoint/2010/main" val="1536764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8A1BB-D11B-4B0E-A28A-97B420251CD2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/>
                <a:ea typeface="微軟正黑體"/>
                <a:cs typeface="微軟正黑體"/>
              </a:rPr>
              <a:t>Demo 8：錯誤偵測</a:t>
            </a:r>
            <a:r>
              <a:rPr lang="zh-TW" altLang="en-US" dirty="0"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dirty="0"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dirty="0">
                <a:latin typeface="微軟正黑體"/>
                <a:ea typeface="微軟正黑體"/>
                <a:cs typeface="微軟正黑體"/>
              </a:rPr>
              <a:t>風險分析</a:t>
            </a:r>
            <a:r>
              <a:rPr lang="en-US" altLang="zh-TW" dirty="0">
                <a:latin typeface="微軟正黑體"/>
                <a:ea typeface="微軟正黑體"/>
                <a:cs typeface="微軟正黑體"/>
              </a:rPr>
              <a:t>)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B8954-49B3-458C-A35E-525B3715F2E1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8BC75-5F4E-4A86-B778-5230FBA229EB}"/>
              </a:ext>
            </a:extLst>
          </p:cNvPr>
          <p:cNvSpPr>
            <a:spLocks noGrp="1"/>
          </p:cNvSpPr>
          <p:nvPr/>
        </p:nvSpPr>
        <p:spPr>
          <a:xfrm>
            <a:off x="594360" y="9785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lang="zh-TW" altLang="zh-TW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系統可協助檢查程式碼中可能的錯誤、風險或不合理邏輯，並標示問題位置。 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6BAC2-176E-400A-A69A-939643A944DF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16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7F9D10-808D-45B4-965A-8DC30A574DB5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72C55-6744-4CBB-AA55-95D40DD1FD33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預先抓出 Bug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：在執行前主動檢查語法錯誤與潛在風險。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檢查環境缺套件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：提醒是否有缺少套件或跨平台不相容問題。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提前防範故障：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在執行或部署前先發現問題，降低上線風險。</a:t>
            </a:r>
          </a:p>
        </p:txBody>
      </p:sp>
    </p:spTree>
    <p:extLst>
      <p:ext uri="{BB962C8B-B14F-4D97-AF65-F5344CB8AC3E}">
        <p14:creationId xmlns:p14="http://schemas.microsoft.com/office/powerpoint/2010/main" val="2093878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8D8D7B-1A7B-4AB8-9C17-87218265388D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/>
                <a:ea typeface="微軟正黑體"/>
                <a:cs typeface="微軟正黑體"/>
              </a:rPr>
              <a:t>Demo 9：錯誤修正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EFD1CB-988B-4A43-B724-739E80DC94C2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7BAC0-9C24-4A75-8AC7-E20F0D5BB4FC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374151"/>
                </a:solidFill>
                <a:latin typeface="Microsoft JhengHei"/>
                <a:ea typeface="微軟正黑體"/>
                <a:cs typeface="微軟正黑體"/>
              </a:defRPr>
            </a:pPr>
            <a:r>
              <a:rPr lang="zh-TW" altLang="zh-TW" sz="1300" dirty="0">
                <a:solidFill>
                  <a:srgbClr val="374151"/>
                </a:solidFill>
                <a:latin typeface="Microsoft JhengHei"/>
              </a:rPr>
              <a:t>針對偵測到的錯誤，提出修正方式，必要時產生修正版程式碼。</a:t>
            </a:r>
            <a:endParaRPr lang="zh-TW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E8EAF-96D9-4314-9FA3-708803AF335E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17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094AAE-796F-40FA-89A5-136080C7E3AB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D1383-E7EE-492F-8157-959F3BE8AFFC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106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無錯誤時不進行不必要修改：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檢查無問題時回報「無需修改」。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1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防禦性安全機制</a:t>
            </a:r>
            <a:r>
              <a:rPr lang="zh-TW" altLang="zh-TW" sz="1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：避免 AI 產生幻覺把本來正常的程式改壞。</a:t>
            </a:r>
            <a:endParaRPr lang="en-US" altLang="zh-TW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1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保護專案穩定性</a:t>
            </a:r>
            <a:r>
              <a:rPr lang="zh-TW" altLang="zh-TW" sz="1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：確保只在真正有錯誤時才提出修正方案。</a:t>
            </a:r>
          </a:p>
        </p:txBody>
      </p:sp>
    </p:spTree>
    <p:extLst>
      <p:ext uri="{BB962C8B-B14F-4D97-AF65-F5344CB8AC3E}">
        <p14:creationId xmlns:p14="http://schemas.microsoft.com/office/powerpoint/2010/main" val="391517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14A8C-0568-4FE1-BDCD-3A3D5968D01C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/>
                <a:ea typeface="微軟正黑體"/>
                <a:cs typeface="微軟正黑體"/>
              </a:rPr>
              <a:t>Demo 10：</a:t>
            </a:r>
            <a:r>
              <a:rPr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Docker </a:t>
            </a:r>
            <a:r>
              <a:rPr lang="en-US" altLang="zh-TW"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+</a:t>
            </a:r>
            <a:r>
              <a:rPr lang="zh-TW" altLang="en-US"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2000" b="1" dirty="0" err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Pytest</a:t>
            </a:r>
            <a:r>
              <a:rPr sz="2000" b="1" dirty="0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2000" b="1" dirty="0" err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rPr>
              <a:t>隔離測試與自動驗證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915228-BCD2-4FC2-B708-60E0B49A9254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F12B2-0A5A-4443-A0D6-D4301501F0B8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在安全沙盒內自動跑單元測試，用數據證明功能正常。</a:t>
            </a:r>
            <a:r>
              <a:rPr lang="zh-TW" altLang="en-US" sz="1300" dirty="0">
                <a:solidFill>
                  <a:srgbClr val="334155"/>
                </a:solidFill>
                <a:latin typeface="微軟正黑體"/>
              </a:rPr>
              <a:t>如有異常會自動修復，直到成功。</a:t>
            </a:r>
            <a:endParaRPr lang="zh-TW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526CA-907C-4B65-9B08-BE3C55EC2B5D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18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4DC5F1-DFF5-4A5D-8083-19F38059134F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F461DF6C-B636-414E-9288-6F4D6A4FC820}"/>
              </a:ext>
            </a:extLst>
          </p:cNvPr>
          <p:cNvSpPr txBox="1"/>
          <p:nvPr/>
        </p:nvSpPr>
        <p:spPr>
          <a:xfrm>
            <a:off x="8001000" y="1554480"/>
            <a:ext cx="3429000" cy="1395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微軟正黑體"/>
              </a:defRPr>
            </a:pPr>
            <a:r>
              <a:rPr lang="zh-TW" altLang="en-US" sz="15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實際操作與結果</a:t>
            </a:r>
          </a:p>
          <a:p>
            <a:pPr marL="171450" indent="-171450">
              <a:buFont typeface="Arial" panose="020B0604020202020204" pitchFamily="34" charset="0"/>
              <a:buChar char="•"/>
              <a:defRPr sz="1250" b="1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15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安全隔離跑測試：在 Docker 沙盒內執行，不影響本機環境。</a:t>
            </a:r>
            <a:endParaRPr lang="en-US" altLang="zh-TW" sz="1150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250" b="1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15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自動收集結果：即時回傳通過幾項、失敗幾項與執行時間。</a:t>
            </a:r>
            <a:endParaRPr lang="en-US" altLang="zh-TW" sz="1150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250" b="1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15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用數據證明可用：100% 通過測試，確保程式確實可以運作。</a:t>
            </a:r>
            <a:endParaRPr sz="115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6312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EC0F-E9C7-6200-F359-043CA075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>
            <a:extLst>
              <a:ext uri="{FF2B5EF4-FFF2-40B4-BE49-F238E27FC236}">
                <a16:creationId xmlns:a16="http://schemas.microsoft.com/office/drawing/2014/main" id="{7F54CBA1-159F-5A01-236F-EF8833409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360" y="1371599"/>
            <a:ext cx="6995160" cy="4343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A3E33A-4AAE-E916-61A5-04A4F2EC1F01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微軟正黑體"/>
              </a:defRPr>
            </a:pPr>
            <a:r>
              <a:rPr lang="en-US" altLang="zh-TW" dirty="0"/>
              <a:t>Demo 11</a:t>
            </a:r>
            <a:r>
              <a:rPr lang="zh-TW" altLang="en-US" dirty="0"/>
              <a:t>：</a:t>
            </a:r>
            <a:r>
              <a:rPr lang="en-US" altLang="zh-TW" sz="2000" b="1" dirty="0">
                <a:latin typeface="微軟正黑體"/>
              </a:rPr>
              <a:t>Docker Sandbox </a:t>
            </a:r>
            <a:r>
              <a:rPr lang="zh-TW" altLang="en-US" sz="2000" b="1" dirty="0">
                <a:latin typeface="微軟正黑體"/>
              </a:rPr>
              <a:t>終端機</a:t>
            </a:r>
            <a:endParaRPr lang="zh-TW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37413-3D86-99C8-9B4D-9DA64E5BE7C2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2AEC1-5C53-87F3-49A5-9D6FBB6DA876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操作：在沙盒內啟動網頁並操作終端機，免設定直接預覽，結合動態代理預覽與 </a:t>
            </a:r>
            <a:r>
              <a:rPr lang="en-US" altLang="zh-TW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X11 GUI </a:t>
            </a:r>
            <a:r>
              <a:rPr lang="zh-TW" alt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視窗轉發。</a:t>
            </a:r>
            <a:endParaRPr lang="zh-TW" alt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91785-ACCA-FD09-8C07-55331500494C}"/>
              </a:ext>
            </a:extLst>
          </p:cNvPr>
          <p:cNvSpPr>
            <a:spLocks noGrp="1"/>
          </p:cNvSpPr>
          <p:nvPr/>
        </p:nvSpPr>
        <p:spPr>
          <a:xfrm>
            <a:off x="11573710" y="6446520"/>
            <a:ext cx="17633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dirty="0"/>
              <a:t>1</a:t>
            </a:r>
            <a:r>
              <a:rPr lang="en-US" dirty="0"/>
              <a:t>9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66F081-4646-FABB-3963-B8DDC91A86FA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C0A0176-F9D0-6C3E-D2D9-D50EC9C2A9AE}"/>
              </a:ext>
            </a:extLst>
          </p:cNvPr>
          <p:cNvSpPr txBox="1"/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500" b="1" dirty="0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</a:p>
          <a:p>
            <a:pPr marL="171450" indent="-171450">
              <a:buFont typeface="Arial" panose="020B0604020202020204" pitchFamily="34" charset="0"/>
              <a:buChar char="•"/>
              <a:defRPr sz="1250" b="1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一鍵啟動預覽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：系統自動產生專屬網址，點擊直接打開操作。</a:t>
            </a:r>
            <a:endParaRPr lang="en-US" altLang="zh-TW" sz="1200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250" b="1">
                <a:solidFill>
                  <a:srgbClr val="374151"/>
                </a:solidFill>
                <a:latin typeface="Microsoft JhengHei"/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安全終端機：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在沙盒容器內跑指令，降低誤操作影響主機環境的風險。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250" b="1">
                <a:solidFill>
                  <a:srgbClr val="374151"/>
                </a:solidFill>
                <a:latin typeface="Microsoft JhengHei"/>
              </a:defRPr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工作台全整合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：寫程式、跑指令、看網頁都在同一介面完成。</a:t>
            </a:r>
          </a:p>
        </p:txBody>
      </p:sp>
    </p:spTree>
    <p:extLst>
      <p:ext uri="{BB962C8B-B14F-4D97-AF65-F5344CB8AC3E}">
        <p14:creationId xmlns:p14="http://schemas.microsoft.com/office/powerpoint/2010/main" val="940391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42B2C-A475-44A5-9478-CABCDCB86F60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/>
              <a:t>Demo 12：Agent </a:t>
            </a:r>
            <a:r>
              <a:rPr dirty="0" err="1"/>
              <a:t>規劃模式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3596B-8534-493E-94B7-5831660B0125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48B0E-14B1-4A84-8966-378E416B0F5F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提出需求「建立 </a:t>
            </a:r>
            <a:r>
              <a:rPr lang="en-US" altLang="zh-TW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 </a:t>
            </a:r>
            <a:r>
              <a:rPr lang="zh-TW" alt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電子時鐘，與台灣時間同步」開啟規劃模式；實測展示自主規劃寫檔與方案取消重置。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3BE32F-9FEE-4A99-99CE-A0B059ED50BE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20</a:t>
            </a:r>
          </a:p>
        </p:txBody>
      </p:sp>
      <p:pic>
        <p:nvPicPr>
          <p:cNvPr id="2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995160" cy="4343400"/>
          </a:xfrm>
          <a:prstGeom prst="rect">
            <a:avLst/>
          </a:prstGeom>
        </p:spPr>
      </p:pic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4AE09253-2B85-C4C0-FE30-2629AC5F79C6}"/>
              </a:ext>
            </a:extLst>
          </p:cNvPr>
          <p:cNvSpPr>
            <a:spLocks noGrp="1"/>
          </p:cNvSpPr>
          <p:nvPr/>
        </p:nvSpPr>
        <p:spPr>
          <a:xfrm>
            <a:off x="7772400" y="1371600"/>
            <a:ext cx="38862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BAE9384-C99B-997F-10E6-FCB8A53429EB}"/>
              </a:ext>
            </a:extLst>
          </p:cNvPr>
          <p:cNvSpPr>
            <a:spLocks noGrp="1"/>
          </p:cNvSpPr>
          <p:nvPr/>
        </p:nvSpPr>
        <p:spPr>
          <a:xfrm>
            <a:off x="8001000" y="1554480"/>
            <a:ext cx="3429000" cy="144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buNone/>
              <a:defRPr sz="15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 dirty="0" err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rPr>
              <a:t>展示重點</a:t>
            </a:r>
            <a:endParaRPr sz="1500" b="1" dirty="0">
              <a:solidFill>
                <a:srgbClr val="2563EB"/>
              </a:solidFill>
              <a:latin typeface="微軟正黑體"/>
              <a:ea typeface="微軟正黑體"/>
              <a:cs typeface="微軟正黑體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先出計畫才寫檔</a:t>
            </a:r>
            <a:r>
              <a:rPr lang="zh-TW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：AI 先列出要改哪裡、怎麼做，確認後才執行。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取消安全機制：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不滿意計畫可直接按取消，不寫入未確認的變更。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全程受人掌控：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嚴格遵循審核授權流程，避免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未經授權直接寫入變更。</a:t>
            </a:r>
          </a:p>
        </p:txBody>
      </p:sp>
    </p:spTree>
    <p:extLst>
      <p:ext uri="{BB962C8B-B14F-4D97-AF65-F5344CB8AC3E}">
        <p14:creationId xmlns:p14="http://schemas.microsoft.com/office/powerpoint/2010/main" val="2019035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CE7E1-A824-4EF3-B8D9-CE0DE5CD176C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2000" dirty="0">
                <a:solidFill>
                  <a:srgbClr val="0F172A"/>
                </a:solidFill>
                <a:latin typeface="微軟正黑體"/>
              </a:rPr>
              <a:t>功能測試結果：系統能力矩陣與實測驗證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3F3B3-E420-49C7-9C9B-FFB9D609CF9E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CFEB1-280D-41EC-B4E5-3A4249365A04}"/>
              </a:ext>
            </a:extLst>
          </p:cNvPr>
          <p:cNvSpPr>
            <a:spLocks noGrp="1"/>
          </p:cNvSpPr>
          <p:nvPr/>
        </p:nvSpPr>
        <p:spPr>
          <a:xfrm>
            <a:off x="594360" y="1014816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300" dirty="0">
                <a:solidFill>
                  <a:srgbClr val="334155"/>
                </a:solidFill>
                <a:latin typeface="微軟正黑體"/>
              </a:rPr>
              <a:t>以多維度實測案例驗證系統能力，並誠實盤點邊界限制與量化測試數據。</a:t>
            </a:r>
            <a:endParaRPr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8B962-2EF9-4EE9-B3B4-DB49530584D5}"/>
              </a:ext>
            </a:extLst>
          </p:cNvPr>
          <p:cNvSpPr>
            <a:spLocks noGrp="1"/>
          </p:cNvSpPr>
          <p:nvPr/>
        </p:nvSpPr>
        <p:spPr>
          <a:xfrm>
            <a:off x="11573710" y="6446520"/>
            <a:ext cx="17633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21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BDBF66-AB06-49A8-B2F3-AA4F81C750CB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5349240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5156C6-976D-4D30-A372-90105DA45736}"/>
              </a:ext>
            </a:extLst>
          </p:cNvPr>
          <p:cNvSpPr>
            <a:spLocks noGrp="1"/>
          </p:cNvSpPr>
          <p:nvPr/>
        </p:nvSpPr>
        <p:spPr>
          <a:xfrm>
            <a:off x="6263640" y="1417320"/>
            <a:ext cx="5349240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310EF2-BF84-4D0E-AE5E-5CCE44922641}"/>
              </a:ext>
            </a:extLst>
          </p:cNvPr>
          <p:cNvSpPr>
            <a:spLocks noGrp="1"/>
          </p:cNvSpPr>
          <p:nvPr/>
        </p:nvSpPr>
        <p:spPr>
          <a:xfrm>
            <a:off x="6446520" y="1620868"/>
            <a:ext cx="4983480" cy="20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  <a:defRPr sz="1350" b="1">
                <a:solidFill>
                  <a:srgbClr val="EA580C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500" dirty="0"/>
              <a:t>目前邊界限制與應對策略</a:t>
            </a:r>
          </a:p>
          <a:p>
            <a:pPr marL="171450" indent="-1714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大型專案上下文：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本機小模型記憶有限，下一步導入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AST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切片與向量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RAG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檢索。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沙盒套件相依性：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預設斷網隔離防護，第三方套件需預先封裝於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映像檔。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雲端多模型授權：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架構已相容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OpenAI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介面，待企業資安核准與配置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即可啟用。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</a:defRPr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跨平台環境相容：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持續優化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Windows/Linux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路徑相容性與多工作區隔離機制。</a:t>
            </a:r>
          </a:p>
          <a:p>
            <a:pPr>
              <a:defRPr sz="1050">
                <a:solidFill>
                  <a:srgbClr val="1F2937"/>
                </a:solidFill>
              </a:defRPr>
            </a:pPr>
            <a:endParaRPr lang="en-US" altLang="zh-TW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6CF31E9-0587-437F-B17C-EB20CBC4594F}"/>
              </a:ext>
            </a:extLst>
          </p:cNvPr>
          <p:cNvSpPr>
            <a:spLocks noGrp="1"/>
          </p:cNvSpPr>
          <p:nvPr/>
        </p:nvSpPr>
        <p:spPr>
          <a:xfrm>
            <a:off x="640080" y="4892040"/>
            <a:ext cx="1101852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72B21-4790-439A-AB37-E669B052F223}"/>
              </a:ext>
            </a:extLst>
          </p:cNvPr>
          <p:cNvSpPr>
            <a:spLocks noGrp="1"/>
          </p:cNvSpPr>
          <p:nvPr/>
        </p:nvSpPr>
        <p:spPr>
          <a:xfrm>
            <a:off x="777240" y="5160000"/>
            <a:ext cx="1065276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350" b="1">
                <a:solidFill>
                  <a:srgbClr val="1D4ED8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400" b="1" dirty="0">
                <a:solidFill>
                  <a:srgbClr val="1D4ED8"/>
                </a:solidFill>
              </a:rPr>
              <a:t>實測數據</a:t>
            </a:r>
            <a:r>
              <a:rPr lang="zh-TW" altLang="en-US" sz="1400" b="1" dirty="0">
                <a:solidFill>
                  <a:srgbClr val="1D4ED8"/>
                </a:solidFill>
                <a:latin typeface="微軟正黑體"/>
                <a:ea typeface="微軟正黑體"/>
              </a:rPr>
              <a:t>：</a:t>
            </a:r>
            <a:r>
              <a:rPr lang="zh-TW" altLang="zh-TW" sz="1350" dirty="0">
                <a:solidFill>
                  <a:srgbClr val="1D4ED8"/>
                </a:solidFill>
                <a:latin typeface="微軟正黑體"/>
              </a:rPr>
              <a:t>前後端自動化測試通過率 100%（前端 159/159、後端 18</a:t>
            </a:r>
            <a:r>
              <a:rPr lang="en-US" altLang="zh-TW" sz="1350" dirty="0">
                <a:solidFill>
                  <a:srgbClr val="1D4ED8"/>
                </a:solidFill>
                <a:latin typeface="微軟正黑體"/>
              </a:rPr>
              <a:t>9</a:t>
            </a:r>
            <a:r>
              <a:rPr lang="zh-TW" altLang="zh-TW" sz="1350" dirty="0">
                <a:solidFill>
                  <a:srgbClr val="1D4ED8"/>
                </a:solidFill>
                <a:latin typeface="微軟正黑體"/>
              </a:rPr>
              <a:t>/18</a:t>
            </a:r>
            <a:r>
              <a:rPr lang="en-US" altLang="zh-TW" sz="1350">
                <a:solidFill>
                  <a:srgbClr val="1D4ED8"/>
                </a:solidFill>
                <a:latin typeface="微軟正黑體"/>
              </a:rPr>
              <a:t>9</a:t>
            </a:r>
            <a:r>
              <a:rPr lang="zh-TW" altLang="zh-TW" sz="1350">
                <a:solidFill>
                  <a:srgbClr val="1D4ED8"/>
                </a:solidFill>
                <a:latin typeface="微軟正黑體"/>
              </a:rPr>
              <a:t>）</a:t>
            </a:r>
            <a:r>
              <a:rPr lang="zh-TW" altLang="zh-TW" sz="1350" dirty="0">
                <a:solidFill>
                  <a:srgbClr val="1D4ED8"/>
                </a:solidFill>
                <a:latin typeface="微軟正黑體"/>
              </a:rPr>
              <a:t>；核心功能 Pytest 100% 通過。</a:t>
            </a:r>
            <a:endParaRPr lang="en-US" altLang="zh-TW" sz="1350" dirty="0">
              <a:solidFill>
                <a:srgbClr val="1D4ED8"/>
              </a:solidFill>
              <a:latin typeface="微軟正黑體"/>
            </a:endParaRPr>
          </a:p>
          <a:p>
            <a:pPr>
              <a:spcAft>
                <a:spcPts val="400"/>
              </a:spcAft>
              <a:buNone/>
              <a:defRPr sz="1350" b="1">
                <a:solidFill>
                  <a:srgbClr val="1D4ED8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400" b="1" dirty="0">
                <a:solidFill>
                  <a:srgbClr val="1D4ED8"/>
                </a:solidFill>
                <a:latin typeface="微軟正黑體"/>
                <a:ea typeface="微軟正黑體"/>
              </a:rPr>
              <a:t>測試結論：</a:t>
            </a:r>
            <a:r>
              <a:rPr lang="en-US" altLang="zh-TW" sz="1400" b="1" dirty="0">
                <a:solidFill>
                  <a:srgbClr val="1D4ED8"/>
                </a:solidFill>
                <a:latin typeface="微軟正黑體"/>
                <a:ea typeface="微軟正黑體"/>
              </a:rPr>
              <a:t>MVP</a:t>
            </a:r>
            <a:r>
              <a:rPr lang="zh-TW" altLang="en-US" sz="1400" b="1" dirty="0">
                <a:solidFill>
                  <a:srgbClr val="1D4ED8"/>
                </a:solidFill>
                <a:latin typeface="微軟正黑體"/>
                <a:ea typeface="微軟正黑體"/>
              </a:rPr>
              <a:t> 已跑通「需求 → 規劃 → 產生 → </a:t>
            </a:r>
            <a:r>
              <a:rPr lang="en-US" altLang="zh-TW" sz="1400" b="1" dirty="0">
                <a:solidFill>
                  <a:srgbClr val="1D4ED8"/>
                </a:solidFill>
                <a:latin typeface="微軟正黑體"/>
                <a:ea typeface="微軟正黑體"/>
              </a:rPr>
              <a:t>Diff </a:t>
            </a:r>
            <a:r>
              <a:rPr lang="zh-TW" altLang="en-US" sz="1400" b="1" dirty="0">
                <a:solidFill>
                  <a:srgbClr val="1D4ED8"/>
                </a:solidFill>
                <a:latin typeface="微軟正黑體"/>
                <a:ea typeface="微軟正黑體"/>
              </a:rPr>
              <a:t>審查 → 套用 → 沙盒測試 → 紀錄」核心流程，具備實際操作能力與基本審查、隔離、追蹤機制。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37251DB9-5589-CF05-58F1-041939D5D72F}"/>
              </a:ext>
            </a:extLst>
          </p:cNvPr>
          <p:cNvSpPr txBox="1"/>
          <p:nvPr/>
        </p:nvSpPr>
        <p:spPr>
          <a:xfrm>
            <a:off x="777240" y="1620868"/>
            <a:ext cx="498348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6A34A"/>
                </a:solidFill>
                <a:latin typeface="微軟正黑體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已實測驗證之核心能力矩陣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需求輸入 → 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AI 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規劃 → 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Diff 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審查 → 套用 → 測試 → 回報的流程可展示。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可建立、改寫、分析、說明與轉換程式。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行內補全、差異審查、歷史紀錄與沙盒測試可運作。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Demo 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已涵蓋 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Web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、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CLI/</a:t>
            </a:r>
            <a:r>
              <a:rPr lang="en-US" altLang="zh-TW" sz="1200" dirty="0" err="1">
                <a:latin typeface="微軟正黑體"/>
                <a:ea typeface="微軟正黑體"/>
                <a:cs typeface="微軟正黑體"/>
              </a:rPr>
              <a:t>Pytest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、</a:t>
            </a:r>
            <a:r>
              <a:rPr lang="en-US" altLang="zh-TW" sz="1200" dirty="0">
                <a:latin typeface="微軟正黑體"/>
                <a:ea typeface="微軟正黑體"/>
                <a:cs typeface="微軟正黑體"/>
              </a:rPr>
              <a:t>GUI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</a:rPr>
              <a:t> 轉發與安全防覆蓋情境。</a:t>
            </a:r>
          </a:p>
        </p:txBody>
      </p:sp>
    </p:spTree>
    <p:extLst>
      <p:ext uri="{BB962C8B-B14F-4D97-AF65-F5344CB8AC3E}">
        <p14:creationId xmlns:p14="http://schemas.microsoft.com/office/powerpoint/2010/main" val="187927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 sz="2200" b="1">
                <a:solidFill>
                  <a:srgbClr val="1F2937"/>
                </a:solidFill>
                <a:latin typeface="Microsoft JhengHei"/>
              </a:defRPr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實作問題與解決方式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008959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 b="0">
                <a:solidFill>
                  <a:srgbClr val="334155"/>
                </a:solidFill>
                <a:latin typeface="微軟正黑體"/>
              </a:defRPr>
            </a:pPr>
            <a:r>
              <a:rPr kumimoji="0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工程實踐中針對資安隔離、代碼防覆蓋、即時串流與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GUI </a:t>
            </a:r>
            <a:r>
              <a:rPr kumimoji="0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視窗之關鍵防護對策</a:t>
            </a:r>
            <a:r>
              <a:rPr kumimoji="0" lang="zh-TW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64748B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1600200"/>
            <a:ext cx="2386584" cy="124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微軟正黑體"/>
              </a:defRPr>
            </a:pPr>
            <a:r>
              <a:rPr sz="1350" b="1" dirty="0" err="1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1：</a:t>
            </a:r>
            <a:r>
              <a:rPr lang="en-US" altLang="zh-TW"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Sandbox </a:t>
            </a:r>
            <a:r>
              <a:rPr lang="zh-TW" altLang="en-US"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安全隔離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Docker Sandbox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容器隔離。</a:t>
            </a:r>
            <a:endParaRPr lang="zh-TW" altLang="en-US" sz="1100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node-</a:t>
            </a:r>
            <a:r>
              <a:rPr lang="en-US" altLang="zh-TW" sz="1100" dirty="0" err="1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pty</a:t>
            </a:r>
            <a:r>
              <a:rPr lang="zh-TW" altLang="en-US" sz="11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實現指令安全轉發。</a:t>
            </a:r>
            <a:endParaRPr lang="en-US" altLang="zh-TW" sz="1100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1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限制容器特權、無 </a:t>
            </a:r>
            <a:r>
              <a:rPr lang="en-US" altLang="zh-TW" sz="11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Root </a:t>
            </a:r>
            <a:r>
              <a:rPr lang="zh-TW" altLang="en-US" sz="110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與斷網。</a:t>
            </a:r>
            <a:endParaRPr lang="en-US" altLang="zh-TW" sz="1100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降低未受信任程式影響主機環境的風險。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60604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8728" y="1600200"/>
            <a:ext cx="2386584" cy="141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500" b="1">
                <a:solidFill>
                  <a:srgbClr val="2563EB"/>
                </a:solidFill>
                <a:latin typeface="微軟正黑體"/>
              </a:defRPr>
            </a:pPr>
            <a:r>
              <a:rPr sz="1350" b="1" dirty="0" err="1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2：AI </a:t>
            </a:r>
            <a:r>
              <a:rPr sz="1350" b="1" dirty="0" err="1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覆蓋正常代碼</a:t>
            </a:r>
            <a:endParaRPr sz="135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強制雙欄紅綠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Diff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審查機制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Agent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規劃模式（審核後才寫檔）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變更」防禦（無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Bug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絕不竄改）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修改歷史時間戳紀錄與隨時回溯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60604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3368" y="1600200"/>
            <a:ext cx="2386584" cy="1756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微軟正黑體"/>
              </a:defRPr>
            </a:pPr>
            <a:r>
              <a:rPr sz="1350" b="1" dirty="0" err="1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3：長任務 Timeout</a:t>
            </a:r>
            <a:endParaRPr lang="zh-TW" altLang="en-US" sz="135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全面採用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Socket.IO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雙向即時串流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多步驟狀態機拆解進度與即時反饋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本地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1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Ollama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/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雲端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(OpenAI)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分流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任務狀態持久化，確保中斷可恢復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98280" y="1417320"/>
            <a:ext cx="251460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7" y="1600200"/>
            <a:ext cx="2295144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500" b="1">
                <a:solidFill>
                  <a:srgbClr val="2563EB"/>
                </a:solidFill>
                <a:latin typeface="微軟正黑體"/>
              </a:defRPr>
            </a:pPr>
            <a:r>
              <a:rPr sz="1350" b="1" dirty="0" err="1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4：Docker </a:t>
            </a:r>
            <a:r>
              <a:rPr sz="1350" b="1" dirty="0" err="1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容器無</a:t>
            </a:r>
            <a:r>
              <a:rPr sz="135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DISPLAY</a:t>
            </a: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配置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</a:t>
            </a:r>
            <a:r>
              <a:rPr lang="en-US" altLang="zh-TW" sz="11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VcXsrv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(X Server)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勾選「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Disable access control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容器設定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DISPLAY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轉發 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X11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  <a:defRPr sz="1100" b="0">
                <a:solidFill>
                  <a:srgbClr val="334155"/>
                </a:solidFill>
                <a:latin typeface="微軟正黑體"/>
              </a:defRPr>
            </a:pP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沙盒內 </a:t>
            </a:r>
            <a:r>
              <a:rPr lang="en-US" altLang="zh-TW" sz="11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Tkinter</a:t>
            </a:r>
            <a:r>
              <a:rPr lang="en-US" altLang="zh-TW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GUI </a:t>
            </a:r>
            <a:r>
              <a:rPr lang="zh-TW" alt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視窗投影顯示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1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5120640"/>
            <a:ext cx="110185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65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D4ED8"/>
                </a:solidFill>
                <a:latin typeface="微軟正黑體"/>
              </a:defRPr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微軟正黑體"/>
                <a:ea typeface="+mn-ea"/>
                <a:cs typeface="+mn-cs"/>
              </a:rPr>
              <a:t>核心原則：AI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微軟正黑體"/>
                <a:ea typeface="+mn-ea"/>
                <a:cs typeface="+mn-cs"/>
              </a:rPr>
              <a:t>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微軟正黑體"/>
                <a:ea typeface="+mn-ea"/>
                <a:cs typeface="+mn-cs"/>
              </a:rPr>
              <a:t>可以大幅賦能開發效率，但所有關鍵變更與執行必須「可審查、可隔離、可驗證、可追蹤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微軟正黑體"/>
                <a:ea typeface="+mn-ea"/>
                <a:cs typeface="+mn-cs"/>
              </a:rPr>
              <a:t>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EBE9-525E-F504-2903-79BE3112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14208-32F0-D49B-9087-85C96078452B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8686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000" b="1">
                <a:solidFill>
                  <a:srgbClr val="0F172A"/>
                </a:solidFill>
                <a:latin typeface="微軟正黑體"/>
                <a:ea typeface="微軟正黑體"/>
                <a:cs typeface="微軟正黑體"/>
              </a:defRPr>
            </a:pPr>
            <a:r>
              <a:t>後續改善方向與技術藍圖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A8A962-0C41-A54C-781E-07926534948C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F1669-73A1-0C4D-5C75-FC7EA10E7816}"/>
              </a:ext>
            </a:extLst>
          </p:cNvPr>
          <p:cNvSpPr>
            <a:spLocks noGrp="1"/>
          </p:cNvSpPr>
          <p:nvPr/>
        </p:nvSpPr>
        <p:spPr>
          <a:xfrm>
            <a:off x="594360" y="1017965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100" b="0">
                <a:solidFill>
                  <a:srgbClr val="334155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00" dirty="0"/>
              <a:t>從 MVP </a:t>
            </a:r>
            <a:r>
              <a:rPr sz="1300" dirty="0" err="1"/>
              <a:t>雛形走向企業級高穩定、高自動化開發平台之</a:t>
            </a:r>
            <a:r>
              <a:rPr sz="1300" dirty="0"/>
              <a:t> 3 </a:t>
            </a:r>
            <a:r>
              <a:rPr sz="1300" dirty="0" err="1"/>
              <a:t>大技術演進策略</a:t>
            </a:r>
            <a:r>
              <a:rPr sz="1300" dirty="0"/>
              <a:t>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37AE7-CD0D-5987-33B4-3B9FF546AC66}"/>
              </a:ext>
            </a:extLst>
          </p:cNvPr>
          <p:cNvSpPr>
            <a:spLocks noGrp="1"/>
          </p:cNvSpPr>
          <p:nvPr/>
        </p:nvSpPr>
        <p:spPr>
          <a:xfrm>
            <a:off x="11573709" y="6446520"/>
            <a:ext cx="17633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  <a:defRPr sz="120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t>23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501773-480E-3347-3CED-B6F4C0FC216F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342900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005B4-E811-CCAE-0C72-7967FC23C116}"/>
              </a:ext>
            </a:extLst>
          </p:cNvPr>
          <p:cNvSpPr>
            <a:spLocks noGrp="1"/>
          </p:cNvSpPr>
          <p:nvPr/>
        </p:nvSpPr>
        <p:spPr>
          <a:xfrm>
            <a:off x="731520" y="1600200"/>
            <a:ext cx="3154680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3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向量代碼檢索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(RAG)</a:t>
            </a:r>
            <a:endParaRPr sz="14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痛點：</a:t>
            </a:r>
            <a:r>
              <a:rPr sz="1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本機小模型處理大型專案易有上下文限制</a:t>
            </a:r>
            <a:r>
              <a:rPr sz="1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策略：</a:t>
            </a:r>
            <a:r>
              <a:rPr sz="1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</a:t>
            </a:r>
            <a:r>
              <a:rPr sz="1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AST </a:t>
            </a:r>
            <a:r>
              <a:rPr sz="1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語法樹切片與向量索引</a:t>
            </a:r>
            <a:r>
              <a:rPr sz="1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目標：</a:t>
            </a:r>
            <a:r>
              <a:rPr sz="115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精準檢索相關模組，消除模型幻覺並支援大專案</a:t>
            </a:r>
            <a:r>
              <a:rPr sz="11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AA0E142-5D6E-DA9C-B44B-51DA877E4C0D}"/>
              </a:ext>
            </a:extLst>
          </p:cNvPr>
          <p:cNvSpPr>
            <a:spLocks noGrp="1"/>
          </p:cNvSpPr>
          <p:nvPr/>
        </p:nvSpPr>
        <p:spPr>
          <a:xfrm>
            <a:off x="4389120" y="1417320"/>
            <a:ext cx="342900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0B567-69EE-8D78-6FBC-50F48541969A}"/>
              </a:ext>
            </a:extLst>
          </p:cNvPr>
          <p:cNvSpPr>
            <a:spLocks noGrp="1"/>
          </p:cNvSpPr>
          <p:nvPr/>
        </p:nvSpPr>
        <p:spPr>
          <a:xfrm>
            <a:off x="4526280" y="1600200"/>
            <a:ext cx="3154680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3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Git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流程整合</a:t>
            </a:r>
            <a:endParaRPr lang="en-US" altLang="zh-TW" sz="14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痛點：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目前修改僅在本地審查，未串接版本庫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策略：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深度串接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GitHub / GitLab API。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目標：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Issue 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自動建立分支，發送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Pull Request 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審查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A72B4A-F188-E91A-8743-11B1A0C19C3C}"/>
              </a:ext>
            </a:extLst>
          </p:cNvPr>
          <p:cNvSpPr>
            <a:spLocks noGrp="1"/>
          </p:cNvSpPr>
          <p:nvPr/>
        </p:nvSpPr>
        <p:spPr>
          <a:xfrm>
            <a:off x="8183879" y="1417320"/>
            <a:ext cx="3429000" cy="3520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B0FDD-8BE4-14E0-4ACF-71C520410CB1}"/>
              </a:ext>
            </a:extLst>
          </p:cNvPr>
          <p:cNvSpPr>
            <a:spLocks noGrp="1"/>
          </p:cNvSpPr>
          <p:nvPr/>
        </p:nvSpPr>
        <p:spPr>
          <a:xfrm>
            <a:off x="8321040" y="1600200"/>
            <a:ext cx="31546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  <a:defRPr sz="1300" b="1">
                <a:solidFill>
                  <a:srgbClr val="2563EB"/>
                </a:solidFill>
                <a:latin typeface="微軟正黑體"/>
                <a:ea typeface="微軟正黑體"/>
                <a:cs typeface="微軟正黑體"/>
              </a:defRPr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自動測試與修復閉環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痛點：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測試失敗時仍需工程師手動觸發修復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策略：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Pytest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報錯日誌自動回傳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AI 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迭代修正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334155"/>
                </a:solidFill>
              </a:defRPr>
            </a:pPr>
            <a:r>
              <a:rPr sz="1150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目標：</a:t>
            </a:r>
            <a:r>
              <a:rPr sz="11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自動修正直到測試通過，再交由人工最終確認</a:t>
            </a:r>
            <a:r>
              <a:rPr sz="11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5924942-11F2-DC90-48C2-9F39DC05B987}"/>
              </a:ext>
            </a:extLst>
          </p:cNvPr>
          <p:cNvSpPr>
            <a:spLocks noGrp="1"/>
          </p:cNvSpPr>
          <p:nvPr/>
        </p:nvSpPr>
        <p:spPr>
          <a:xfrm>
            <a:off x="594360" y="5120640"/>
            <a:ext cx="110185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F0743F-4977-1F48-3B33-9976868569F6}"/>
              </a:ext>
            </a:extLst>
          </p:cNvPr>
          <p:cNvSpPr>
            <a:spLocks noGrp="1"/>
          </p:cNvSpPr>
          <p:nvPr/>
        </p:nvSpPr>
        <p:spPr>
          <a:xfrm>
            <a:off x="777240" y="5519239"/>
            <a:ext cx="1065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1">
                <a:solidFill>
                  <a:srgbClr val="1D4ED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00" dirty="0" err="1"/>
              <a:t>演進總結：Cubi</a:t>
            </a:r>
            <a:r>
              <a:rPr sz="1400" dirty="0"/>
              <a:t> Code </a:t>
            </a:r>
            <a:r>
              <a:rPr sz="1400" dirty="0" err="1"/>
              <a:t>已完成</a:t>
            </a:r>
            <a:r>
              <a:rPr sz="1400" dirty="0"/>
              <a:t> MVP </a:t>
            </a:r>
            <a:r>
              <a:rPr sz="1400" dirty="0" err="1"/>
              <a:t>實證；下一步推進企業級自動化閉環、Git</a:t>
            </a:r>
            <a:r>
              <a:rPr sz="1400" dirty="0"/>
              <a:t> </a:t>
            </a:r>
            <a:r>
              <a:rPr sz="1400" dirty="0" err="1"/>
              <a:t>協同與資安整合</a:t>
            </a:r>
            <a:r>
              <a:rPr sz="1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36981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91F4F-7F2E-4B74-AF3B-DA381F52B6B0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10332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  <a:defRPr sz="4200" b="1">
                <a:solidFill>
                  <a:srgbClr val="2563EB"/>
                </a:solidFill>
                <a:latin typeface="Segoe UI"/>
                <a:ea typeface="Segoe UI"/>
                <a:cs typeface="Segoe UI"/>
              </a:defRPr>
            </a:pPr>
            <a:r>
              <a:rPr lang="ja-JP" altLang="en-US" dirty="0">
                <a:latin typeface="微軟正黑體"/>
                <a:ea typeface="微軟正黑體"/>
                <a:cs typeface="微軟正黑體"/>
              </a:rPr>
              <a:t>報告結束・感謝聆聽與交流</a:t>
            </a:r>
            <a:br>
              <a:rPr dirty="0"/>
            </a:br>
            <a:r>
              <a:rPr dirty="0">
                <a:latin typeface="微軟正黑體"/>
                <a:ea typeface="微軟正黑體"/>
                <a:cs typeface="微軟正黑體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20944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2549</Words>
  <Application>Microsoft Office PowerPoint</Application>
  <DocSecurity>0</DocSecurity>
  <PresentationFormat>寬螢幕</PresentationFormat>
  <Paragraphs>225</Paragraphs>
  <Slides>24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微軟正黑體</vt:lpstr>
      <vt:lpstr>微軟正黑體</vt:lpstr>
      <vt:lpstr>Arial</vt:lpstr>
      <vt:lpstr>Calibri</vt:lpstr>
      <vt:lpstr>Segoe UI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Caesar Lonely</cp:lastModifiedBy>
  <cp:revision>96</cp:revision>
  <dcterms:created xsi:type="dcterms:W3CDTF">2026-08-27T06:37:38Z</dcterms:created>
  <dcterms:modified xsi:type="dcterms:W3CDTF">2026-09-18T07:03:15Z</dcterms:modified>
</cp:coreProperties>
</file>